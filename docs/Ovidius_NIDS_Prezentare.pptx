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3474720" cy="6858000"/>
          </a:xfrm>
          <a:prstGeom prst="rect">
            <a:avLst/>
          </a:prstGeom>
          <a:solidFill>
            <a:srgbClr val="22D3EE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0"/>
            <a:ext cx="36576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OVIDIUS UNIVERSITY OF CONSTANȚA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Mathematics and Computer Science  ·  Computer Science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BACHELOR'S THESIS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269748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System for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Detection Intrusion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640080" y="5212080"/>
            <a:ext cx="1371600" cy="1828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53949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</a:t>
            </a:r>
            <a:endParaRPr lang="en-US" sz="1000" dirty="0"/>
          </a:p>
          <a:p>
            <a:pPr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Bora Cristian-Vasile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943600" y="539496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ADVISOR</a:t>
            </a:r>
            <a:endParaRPr lang="en-US" sz="1000" dirty="0"/>
          </a:p>
          <a:p>
            <a:pPr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Dorin Iordache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Constanța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PURPOSE</a:t>
            </a:r>
            <a:endParaRPr lang="en-US" sz="1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2296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758952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purpose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Ovidius NIDS · Bora Cristian-Vasile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03520" cy="2057400"/>
          </a:xfrm>
          <a:prstGeom prst="rect">
            <a:avLst/>
          </a:prstGeom>
          <a:solidFill>
            <a:srgbClr val="111B30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783080"/>
            <a:ext cx="54864" cy="2057400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0312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20574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detection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914400" y="274320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packet inspected as it arrives. No PCAP files analysed offline.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217920" y="1783080"/>
            <a:ext cx="5303520" cy="2057400"/>
          </a:xfrm>
          <a:prstGeom prst="rect">
            <a:avLst/>
          </a:prstGeom>
          <a:solidFill>
            <a:srgbClr val="111B30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217920" y="1783080"/>
            <a:ext cx="54864" cy="2057400"/>
          </a:xfrm>
          <a:prstGeom prst="rect">
            <a:avLst/>
          </a:prstGeom>
          <a:solidFill>
            <a:srgbClr val="D946E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10312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32320" y="20574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signatures + ML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6492240" y="274320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complementary engines. When both agree, the alert gets the hybrid label.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0080" y="4114800"/>
            <a:ext cx="5303520" cy="2057400"/>
          </a:xfrm>
          <a:prstGeom prst="rect">
            <a:avLst/>
          </a:prstGeom>
          <a:solidFill>
            <a:srgbClr val="111B30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0080" y="4114800"/>
            <a:ext cx="54864" cy="20574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43484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54480" y="43891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forensics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914400" y="507492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alert: a snapshot of the last 50 packets, downloadable from the UI.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6217920" y="4114800"/>
            <a:ext cx="5303520" cy="2057400"/>
          </a:xfrm>
          <a:prstGeom prst="rect">
            <a:avLst/>
          </a:prstGeom>
          <a:solidFill>
            <a:srgbClr val="111B30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217920" y="4114800"/>
            <a:ext cx="54864" cy="205740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4434840"/>
            <a:ext cx="502920" cy="5029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132320" y="43891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demo</a:t>
            </a:r>
            <a:endParaRPr lang="en-US" sz="1800" dirty="0"/>
          </a:p>
        </p:txBody>
      </p:sp>
      <p:sp>
        <p:nvSpPr>
          <p:cNvPr id="25" name="Text 18"/>
          <p:cNvSpPr/>
          <p:nvPr/>
        </p:nvSpPr>
        <p:spPr>
          <a:xfrm>
            <a:off x="6492240" y="507492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launcher: auto-install, FastAPI + Vite start, browser opens.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IDEA</a:t>
            </a:r>
            <a:endParaRPr lang="en-US" sz="1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2296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758952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idea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Ovidius NIDS · Bora Cristian-Vasile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classical paradigm solves the problem on its own.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240280"/>
            <a:ext cx="3657600" cy="3383280"/>
          </a:xfrm>
          <a:prstGeom prst="rect">
            <a:avLst/>
          </a:prstGeom>
          <a:solidFill>
            <a:srgbClr val="111B30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2240280"/>
            <a:ext cx="54864" cy="338328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60604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3383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SIGNATURES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960120" y="36576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but limited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960120" y="42976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exactly what they know (CVEs, Snort signatures). Cannot see new or modified attacks.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526280" y="2240280"/>
            <a:ext cx="3657600" cy="3383280"/>
          </a:xfrm>
          <a:prstGeom prst="rect">
            <a:avLst/>
          </a:prstGeom>
          <a:solidFill>
            <a:srgbClr val="111B30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526280" y="2240280"/>
            <a:ext cx="54864" cy="3383280"/>
          </a:xfrm>
          <a:prstGeom prst="rect">
            <a:avLst/>
          </a:prstGeom>
          <a:solidFill>
            <a:srgbClr val="D946E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606040"/>
            <a:ext cx="640080" cy="6400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846320" y="3383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4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4846320" y="36576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but noisy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4846320" y="42976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unknown anomalies. But generates false alarms — see Sommer &amp; Paxson, 2010.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8412480" y="2240280"/>
            <a:ext cx="3657600" cy="3383280"/>
          </a:xfrm>
          <a:prstGeom prst="rect">
            <a:avLst/>
          </a:prstGeom>
          <a:solidFill>
            <a:srgbClr val="111B30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412480" y="2240280"/>
            <a:ext cx="54864" cy="3383280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0" y="2606040"/>
            <a:ext cx="640080" cy="6400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732520" y="3383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8732520" y="36576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cooperation</a:t>
            </a:r>
            <a:endParaRPr lang="en-US" sz="1900" dirty="0"/>
          </a:p>
        </p:txBody>
      </p:sp>
      <p:sp>
        <p:nvSpPr>
          <p:cNvPr id="24" name="Text 18"/>
          <p:cNvSpPr/>
          <p:nvPr/>
        </p:nvSpPr>
        <p:spPr>
          <a:xfrm>
            <a:off x="8732520" y="42976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both engines flag the same packet → the hybrid category (maximum confidence).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640080" y="5806440"/>
            <a:ext cx="10881360" cy="594360"/>
          </a:xfrm>
          <a:prstGeom prst="rect">
            <a:avLst/>
          </a:prstGeom>
          <a:solidFill>
            <a:srgbClr val="111B3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868680" y="585216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 built-in forensics layer — every alert keeps the context of the packets that triggered it.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TECHNOLOGIES</a:t>
            </a:r>
            <a:endParaRPr lang="en-US" sz="1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2296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758952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Ovidius NIDS · Bora Cristian-Vasile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94960" cy="4389120"/>
          </a:xfrm>
          <a:prstGeom prst="rect">
            <a:avLst/>
          </a:prstGeom>
          <a:solidFill>
            <a:srgbClr val="111B30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783080"/>
            <a:ext cx="54864" cy="4389120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05740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203911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1005840" y="2889504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1" name="Text 7"/>
          <p:cNvSpPr/>
          <p:nvPr/>
        </p:nvSpPr>
        <p:spPr>
          <a:xfrm>
            <a:off x="1261872" y="2743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291840" y="2743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language, async event loop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1005840" y="3419856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4" name="Text 10"/>
          <p:cNvSpPr/>
          <p:nvPr/>
        </p:nvSpPr>
        <p:spPr>
          <a:xfrm>
            <a:off x="1261872" y="32735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291840" y="327355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WebSocket, auto OpenAPI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1005840" y="3950208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7" name="Text 13"/>
          <p:cNvSpPr/>
          <p:nvPr/>
        </p:nvSpPr>
        <p:spPr>
          <a:xfrm>
            <a:off x="1261872" y="380390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2 async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291840" y="380390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+ aiosqlite (SQLite)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1005840" y="4480560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0" name="Text 16"/>
          <p:cNvSpPr/>
          <p:nvPr/>
        </p:nvSpPr>
        <p:spPr>
          <a:xfrm>
            <a:off x="1261872" y="433425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3291840" y="433425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Forest, Isolation Forest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1005840" y="5010912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3" name="Text 19"/>
          <p:cNvSpPr/>
          <p:nvPr/>
        </p:nvSpPr>
        <p:spPr>
          <a:xfrm>
            <a:off x="1261872" y="48646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Scapy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3291840" y="486460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packet capture (libpcap / Npcap)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1005840" y="5541264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6" name="Text 22"/>
          <p:cNvSpPr/>
          <p:nvPr/>
        </p:nvSpPr>
        <p:spPr>
          <a:xfrm>
            <a:off x="1261872" y="5394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+ JWT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3291840" y="5394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and password hashing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6309360" y="1783080"/>
            <a:ext cx="5394960" cy="4389120"/>
          </a:xfrm>
          <a:prstGeom prst="rect">
            <a:avLst/>
          </a:prstGeom>
          <a:solidFill>
            <a:srgbClr val="111B30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309360" y="1783080"/>
            <a:ext cx="54864" cy="4389120"/>
          </a:xfrm>
          <a:prstGeom prst="rect">
            <a:avLst/>
          </a:prstGeom>
          <a:solidFill>
            <a:srgbClr val="D946EF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057400"/>
            <a:ext cx="411480" cy="4114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7178040" y="203911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2000" dirty="0"/>
          </a:p>
        </p:txBody>
      </p:sp>
      <p:sp>
        <p:nvSpPr>
          <p:cNvPr id="32" name="Shape 27"/>
          <p:cNvSpPr/>
          <p:nvPr/>
        </p:nvSpPr>
        <p:spPr>
          <a:xfrm>
            <a:off x="6675120" y="2889504"/>
            <a:ext cx="128016" cy="128016"/>
          </a:xfrm>
          <a:prstGeom prst="ellipse">
            <a:avLst/>
          </a:prstGeom>
          <a:solidFill>
            <a:srgbClr val="D946EF"/>
          </a:solidFill>
          <a:ln/>
        </p:spPr>
      </p:sp>
      <p:sp>
        <p:nvSpPr>
          <p:cNvPr id="33" name="Text 28"/>
          <p:cNvSpPr/>
          <p:nvPr/>
        </p:nvSpPr>
        <p:spPr>
          <a:xfrm>
            <a:off x="6931152" y="2743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lang="en-US" sz="1300" dirty="0"/>
          </a:p>
        </p:txBody>
      </p:sp>
      <p:sp>
        <p:nvSpPr>
          <p:cNvPr id="34" name="Text 29"/>
          <p:cNvSpPr/>
          <p:nvPr/>
        </p:nvSpPr>
        <p:spPr>
          <a:xfrm>
            <a:off x="8961120" y="2743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SPA, hot reload in dev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6675120" y="3419856"/>
            <a:ext cx="128016" cy="128016"/>
          </a:xfrm>
          <a:prstGeom prst="ellipse">
            <a:avLst/>
          </a:prstGeom>
          <a:solidFill>
            <a:srgbClr val="D946EF"/>
          </a:solidFill>
          <a:ln/>
        </p:spPr>
      </p:sp>
      <p:sp>
        <p:nvSpPr>
          <p:cNvPr id="36" name="Text 31"/>
          <p:cNvSpPr/>
          <p:nvPr/>
        </p:nvSpPr>
        <p:spPr>
          <a:xfrm>
            <a:off x="6931152" y="32735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TailwindCSS</a:t>
            </a:r>
            <a:endParaRPr lang="en-US" sz="1300" dirty="0"/>
          </a:p>
        </p:txBody>
      </p:sp>
      <p:sp>
        <p:nvSpPr>
          <p:cNvPr id="37" name="Text 32"/>
          <p:cNvSpPr/>
          <p:nvPr/>
        </p:nvSpPr>
        <p:spPr>
          <a:xfrm>
            <a:off x="8961120" y="327355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Navy + Cyan theme</a:t>
            </a:r>
            <a:endParaRPr lang="en-US" sz="1200" dirty="0"/>
          </a:p>
        </p:txBody>
      </p:sp>
      <p:sp>
        <p:nvSpPr>
          <p:cNvPr id="38" name="Shape 33"/>
          <p:cNvSpPr/>
          <p:nvPr/>
        </p:nvSpPr>
        <p:spPr>
          <a:xfrm>
            <a:off x="6675120" y="3950208"/>
            <a:ext cx="128016" cy="128016"/>
          </a:xfrm>
          <a:prstGeom prst="ellipse">
            <a:avLst/>
          </a:prstGeom>
          <a:solidFill>
            <a:srgbClr val="D946EF"/>
          </a:solidFill>
          <a:ln/>
        </p:spPr>
      </p:sp>
      <p:sp>
        <p:nvSpPr>
          <p:cNvPr id="39" name="Text 34"/>
          <p:cNvSpPr/>
          <p:nvPr/>
        </p:nvSpPr>
        <p:spPr>
          <a:xfrm>
            <a:off x="6931152" y="380390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1300" dirty="0"/>
          </a:p>
        </p:txBody>
      </p:sp>
      <p:sp>
        <p:nvSpPr>
          <p:cNvPr id="40" name="Text 35"/>
          <p:cNvSpPr/>
          <p:nvPr/>
        </p:nvSpPr>
        <p:spPr>
          <a:xfrm>
            <a:off x="8961120" y="380390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charts (packet rate, severity)</a:t>
            </a:r>
            <a:endParaRPr lang="en-US" sz="1200" dirty="0"/>
          </a:p>
        </p:txBody>
      </p:sp>
      <p:sp>
        <p:nvSpPr>
          <p:cNvPr id="41" name="Shape 36"/>
          <p:cNvSpPr/>
          <p:nvPr/>
        </p:nvSpPr>
        <p:spPr>
          <a:xfrm>
            <a:off x="6675120" y="4480560"/>
            <a:ext cx="128016" cy="128016"/>
          </a:xfrm>
          <a:prstGeom prst="ellipse">
            <a:avLst/>
          </a:prstGeom>
          <a:solidFill>
            <a:srgbClr val="D946EF"/>
          </a:solidFill>
          <a:ln/>
        </p:spPr>
      </p:sp>
      <p:sp>
        <p:nvSpPr>
          <p:cNvPr id="42" name="Text 37"/>
          <p:cNvSpPr/>
          <p:nvPr/>
        </p:nvSpPr>
        <p:spPr>
          <a:xfrm>
            <a:off x="6931152" y="433425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lucide-react</a:t>
            </a:r>
            <a:endParaRPr lang="en-US" sz="1300" dirty="0"/>
          </a:p>
        </p:txBody>
      </p:sp>
      <p:sp>
        <p:nvSpPr>
          <p:cNvPr id="43" name="Text 38"/>
          <p:cNvSpPr/>
          <p:nvPr/>
        </p:nvSpPr>
        <p:spPr>
          <a:xfrm>
            <a:off x="8961120" y="433425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iconography</a:t>
            </a:r>
            <a:endParaRPr lang="en-US" sz="1200" dirty="0"/>
          </a:p>
        </p:txBody>
      </p:sp>
      <p:sp>
        <p:nvSpPr>
          <p:cNvPr id="44" name="Shape 39"/>
          <p:cNvSpPr/>
          <p:nvPr/>
        </p:nvSpPr>
        <p:spPr>
          <a:xfrm>
            <a:off x="6675120" y="5010912"/>
            <a:ext cx="128016" cy="128016"/>
          </a:xfrm>
          <a:prstGeom prst="ellipse">
            <a:avLst/>
          </a:prstGeom>
          <a:solidFill>
            <a:srgbClr val="D946EF"/>
          </a:solidFill>
          <a:ln/>
        </p:spPr>
      </p:sp>
      <p:sp>
        <p:nvSpPr>
          <p:cNvPr id="45" name="Text 40"/>
          <p:cNvSpPr/>
          <p:nvPr/>
        </p:nvSpPr>
        <p:spPr>
          <a:xfrm>
            <a:off x="6931152" y="48646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client</a:t>
            </a:r>
            <a:endParaRPr lang="en-US" sz="1300" dirty="0"/>
          </a:p>
        </p:txBody>
      </p:sp>
      <p:sp>
        <p:nvSpPr>
          <p:cNvPr id="46" name="Text 41"/>
          <p:cNvSpPr/>
          <p:nvPr/>
        </p:nvSpPr>
        <p:spPr>
          <a:xfrm>
            <a:off x="8961120" y="486460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for alerts + traffic</a:t>
            </a:r>
            <a:endParaRPr lang="en-US" sz="1200" dirty="0"/>
          </a:p>
        </p:txBody>
      </p:sp>
      <p:sp>
        <p:nvSpPr>
          <p:cNvPr id="47" name="Shape 42"/>
          <p:cNvSpPr/>
          <p:nvPr/>
        </p:nvSpPr>
        <p:spPr>
          <a:xfrm>
            <a:off x="6675120" y="5541264"/>
            <a:ext cx="128016" cy="128016"/>
          </a:xfrm>
          <a:prstGeom prst="ellipse">
            <a:avLst/>
          </a:prstGeom>
          <a:solidFill>
            <a:srgbClr val="D946EF"/>
          </a:solidFill>
          <a:ln/>
        </p:spPr>
      </p:sp>
      <p:sp>
        <p:nvSpPr>
          <p:cNvPr id="48" name="Text 43"/>
          <p:cNvSpPr/>
          <p:nvPr/>
        </p:nvSpPr>
        <p:spPr>
          <a:xfrm>
            <a:off x="6931152" y="5394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date-fns</a:t>
            </a:r>
            <a:endParaRPr lang="en-US" sz="1300" dirty="0"/>
          </a:p>
        </p:txBody>
      </p:sp>
      <p:sp>
        <p:nvSpPr>
          <p:cNvPr id="49" name="Text 44"/>
          <p:cNvSpPr/>
          <p:nvPr/>
        </p:nvSpPr>
        <p:spPr>
          <a:xfrm>
            <a:off x="8961120" y="5394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formatting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ARCHITECTURE</a:t>
            </a:r>
            <a:endParaRPr lang="en-US" sz="1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2296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758952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flow through the system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Ovidius NIDS · Bora Cristian-Vasile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809244" y="2103120"/>
            <a:ext cx="1874520" cy="1371600"/>
          </a:xfrm>
          <a:prstGeom prst="rect">
            <a:avLst/>
          </a:prstGeom>
          <a:solidFill>
            <a:srgbClr val="162241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9244" y="2103120"/>
            <a:ext cx="54864" cy="1371600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616" y="2286000"/>
            <a:ext cx="493776" cy="4937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9244" y="285292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809244" y="31089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 or Simulator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0340" y="2642616"/>
            <a:ext cx="219456" cy="219456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2976372" y="2103120"/>
            <a:ext cx="1874520" cy="1371600"/>
          </a:xfrm>
          <a:prstGeom prst="rect">
            <a:avLst/>
          </a:prstGeom>
          <a:solidFill>
            <a:srgbClr val="162241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2976372" y="2103120"/>
            <a:ext cx="54864" cy="1371600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6744" y="2286000"/>
            <a:ext cx="493776" cy="49377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976372" y="285292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2976372" y="31089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Sniffer / Sim.</a:t>
            </a:r>
            <a:endParaRPr lang="en-US" sz="12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7468" y="2642616"/>
            <a:ext cx="219456" cy="219456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5143500" y="2103120"/>
            <a:ext cx="1874520" cy="1371600"/>
          </a:xfrm>
          <a:prstGeom prst="rect">
            <a:avLst/>
          </a:prstGeom>
          <a:solidFill>
            <a:srgbClr val="162241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>
            <a:off x="5143500" y="2103120"/>
            <a:ext cx="54864" cy="1371600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3872" y="2286000"/>
            <a:ext cx="493776" cy="49377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143500" y="285292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</a:t>
            </a:r>
            <a:endParaRPr lang="en-US" sz="1000" dirty="0"/>
          </a:p>
        </p:txBody>
      </p:sp>
      <p:sp>
        <p:nvSpPr>
          <p:cNvPr id="22" name="Text 14"/>
          <p:cNvSpPr/>
          <p:nvPr/>
        </p:nvSpPr>
        <p:spPr>
          <a:xfrm>
            <a:off x="5143500" y="31089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coordinator</a:t>
            </a:r>
            <a:endParaRPr lang="en-US" sz="12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4596" y="2642616"/>
            <a:ext cx="219456" cy="219456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7310628" y="2103120"/>
            <a:ext cx="1874520" cy="1371600"/>
          </a:xfrm>
          <a:prstGeom prst="rect">
            <a:avLst/>
          </a:prstGeom>
          <a:solidFill>
            <a:srgbClr val="162241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25" name="Shape 16"/>
          <p:cNvSpPr/>
          <p:nvPr/>
        </p:nvSpPr>
        <p:spPr>
          <a:xfrm>
            <a:off x="7310628" y="2103120"/>
            <a:ext cx="54864" cy="1371600"/>
          </a:xfrm>
          <a:prstGeom prst="rect">
            <a:avLst/>
          </a:prstGeom>
          <a:solidFill>
            <a:srgbClr val="D946EF"/>
          </a:solidFill>
          <a:ln/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0" y="2286000"/>
            <a:ext cx="493776" cy="493776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7310628" y="285292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D94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ENGINES</a:t>
            </a:r>
            <a:endParaRPr lang="en-US" sz="1000" dirty="0"/>
          </a:p>
        </p:txBody>
      </p:sp>
      <p:sp>
        <p:nvSpPr>
          <p:cNvPr id="28" name="Text 18"/>
          <p:cNvSpPr/>
          <p:nvPr/>
        </p:nvSpPr>
        <p:spPr>
          <a:xfrm>
            <a:off x="7310628" y="31089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+ ML</a:t>
            </a:r>
            <a:endParaRPr lang="en-US" sz="120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21724" y="2642616"/>
            <a:ext cx="219456" cy="219456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9477756" y="2103120"/>
            <a:ext cx="1874520" cy="1371600"/>
          </a:xfrm>
          <a:prstGeom prst="rect">
            <a:avLst/>
          </a:prstGeom>
          <a:solidFill>
            <a:srgbClr val="162241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31" name="Shape 20"/>
          <p:cNvSpPr/>
          <p:nvPr/>
        </p:nvSpPr>
        <p:spPr>
          <a:xfrm>
            <a:off x="9477756" y="2103120"/>
            <a:ext cx="54864" cy="137160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68128" y="2286000"/>
            <a:ext cx="493776" cy="493776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9477756" y="285292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34" name="Text 22"/>
          <p:cNvSpPr/>
          <p:nvPr/>
        </p:nvSpPr>
        <p:spPr>
          <a:xfrm>
            <a:off x="9477756" y="31089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+ JSONL + WS</a:t>
            </a:r>
            <a:endParaRPr lang="en-US" sz="1200" dirty="0"/>
          </a:p>
        </p:txBody>
      </p:sp>
      <p:sp>
        <p:nvSpPr>
          <p:cNvPr id="35" name="Shape 23"/>
          <p:cNvSpPr/>
          <p:nvPr/>
        </p:nvSpPr>
        <p:spPr>
          <a:xfrm>
            <a:off x="438912" y="4023360"/>
            <a:ext cx="2697480" cy="1463040"/>
          </a:xfrm>
          <a:prstGeom prst="rect">
            <a:avLst/>
          </a:prstGeom>
          <a:solidFill>
            <a:srgbClr val="111B30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36" name="Text 24"/>
          <p:cNvSpPr/>
          <p:nvPr/>
        </p:nvSpPr>
        <p:spPr>
          <a:xfrm>
            <a:off x="621792" y="41879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300" dirty="0"/>
          </a:p>
        </p:txBody>
      </p:sp>
      <p:sp>
        <p:nvSpPr>
          <p:cNvPr id="37" name="Text 25"/>
          <p:cNvSpPr/>
          <p:nvPr/>
        </p:nvSpPr>
        <p:spPr>
          <a:xfrm>
            <a:off x="621792" y="457200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interchangeable sources: LiveSniffer (Scapy) or TrafficSimulator (in-memory). Same API.</a:t>
            </a:r>
            <a:endParaRPr lang="en-US" sz="1150" dirty="0"/>
          </a:p>
        </p:txBody>
      </p:sp>
      <p:sp>
        <p:nvSpPr>
          <p:cNvPr id="38" name="Shape 26"/>
          <p:cNvSpPr/>
          <p:nvPr/>
        </p:nvSpPr>
        <p:spPr>
          <a:xfrm>
            <a:off x="3300984" y="4023360"/>
            <a:ext cx="2697480" cy="1463040"/>
          </a:xfrm>
          <a:prstGeom prst="rect">
            <a:avLst/>
          </a:prstGeom>
          <a:solidFill>
            <a:srgbClr val="111B30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39" name="Text 27"/>
          <p:cNvSpPr/>
          <p:nvPr/>
        </p:nvSpPr>
        <p:spPr>
          <a:xfrm>
            <a:off x="3483864" y="41879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300" dirty="0"/>
          </a:p>
        </p:txBody>
      </p:sp>
      <p:sp>
        <p:nvSpPr>
          <p:cNvPr id="40" name="Text 28"/>
          <p:cNvSpPr/>
          <p:nvPr/>
        </p:nvSpPr>
        <p:spPr>
          <a:xfrm>
            <a:off x="3483864" y="457200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Dispatcher: metrics, 200-packet ring buffer, traffic_bus publishing, DB sampling.</a:t>
            </a:r>
            <a:endParaRPr lang="en-US" sz="1150" dirty="0"/>
          </a:p>
        </p:txBody>
      </p:sp>
      <p:sp>
        <p:nvSpPr>
          <p:cNvPr id="41" name="Shape 29"/>
          <p:cNvSpPr/>
          <p:nvPr/>
        </p:nvSpPr>
        <p:spPr>
          <a:xfrm>
            <a:off x="6163056" y="4023360"/>
            <a:ext cx="2697480" cy="1463040"/>
          </a:xfrm>
          <a:prstGeom prst="rect">
            <a:avLst/>
          </a:prstGeom>
          <a:solidFill>
            <a:srgbClr val="111B30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42" name="Text 30"/>
          <p:cNvSpPr/>
          <p:nvPr/>
        </p:nvSpPr>
        <p:spPr>
          <a:xfrm>
            <a:off x="6345936" y="41879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300" dirty="0"/>
          </a:p>
        </p:txBody>
      </p:sp>
      <p:sp>
        <p:nvSpPr>
          <p:cNvPr id="43" name="Text 31"/>
          <p:cNvSpPr/>
          <p:nvPr/>
        </p:nvSpPr>
        <p:spPr>
          <a:xfrm>
            <a:off x="6345936" y="457200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engine (10 YAML rules) + ML scoring. Three categories: signature, ml, hybrid.</a:t>
            </a:r>
            <a:endParaRPr lang="en-US" sz="1150" dirty="0"/>
          </a:p>
        </p:txBody>
      </p:sp>
      <p:sp>
        <p:nvSpPr>
          <p:cNvPr id="44" name="Shape 32"/>
          <p:cNvSpPr/>
          <p:nvPr/>
        </p:nvSpPr>
        <p:spPr>
          <a:xfrm>
            <a:off x="9025128" y="4023360"/>
            <a:ext cx="2697480" cy="1463040"/>
          </a:xfrm>
          <a:prstGeom prst="rect">
            <a:avLst/>
          </a:prstGeom>
          <a:solidFill>
            <a:srgbClr val="111B30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9208008" y="41879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300" dirty="0"/>
          </a:p>
        </p:txBody>
      </p:sp>
      <p:sp>
        <p:nvSpPr>
          <p:cNvPr id="46" name="Text 34"/>
          <p:cNvSpPr/>
          <p:nvPr/>
        </p:nvSpPr>
        <p:spPr>
          <a:xfrm>
            <a:off x="9208008" y="457200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in SQLite + JSONL per alert on disk. Broadcast on alert_bus → WebSocket clients.</a:t>
            </a:r>
            <a:endParaRPr lang="en-US" sz="1150" dirty="0"/>
          </a:p>
        </p:txBody>
      </p:sp>
      <p:sp>
        <p:nvSpPr>
          <p:cNvPr id="47" name="Text 35"/>
          <p:cNvSpPr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latency (packet → UI notification) under 250 ms on a laptop.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COMPONENTS</a:t>
            </a:r>
            <a:endParaRPr lang="en-US" sz="1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2296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758952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modules that make up the application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Ovidius NIDS · Bora Cristian-Vasile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44240" cy="2148840"/>
          </a:xfrm>
          <a:prstGeom prst="rect">
            <a:avLst/>
          </a:prstGeom>
          <a:solidFill>
            <a:srgbClr val="111B30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783080"/>
            <a:ext cx="54864" cy="2148840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75688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2075688"/>
            <a:ext cx="234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Sniffer / Simulator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914400" y="2743200"/>
            <a:ext cx="298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packet capture (Scapy) or synthetic generation for demos.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358640" y="1783080"/>
            <a:ext cx="3444240" cy="2148840"/>
          </a:xfrm>
          <a:prstGeom prst="rect">
            <a:avLst/>
          </a:prstGeom>
          <a:solidFill>
            <a:srgbClr val="111B30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358640" y="1783080"/>
            <a:ext cx="54864" cy="2148840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960" y="2075688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73040" y="2075688"/>
            <a:ext cx="234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632960" y="2743200"/>
            <a:ext cx="298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point. Coordinates metrics, engines, persistence, broadcast.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077200" y="1783080"/>
            <a:ext cx="3444240" cy="2148840"/>
          </a:xfrm>
          <a:prstGeom prst="rect">
            <a:avLst/>
          </a:prstGeom>
          <a:solidFill>
            <a:srgbClr val="111B30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077200" y="1783080"/>
            <a:ext cx="54864" cy="214884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1520" y="2075688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991600" y="2075688"/>
            <a:ext cx="234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Engine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8351520" y="2743200"/>
            <a:ext cx="298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rules (protocol, IP, port, content, regex, threshold).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40080" y="4206240"/>
            <a:ext cx="3444240" cy="2148840"/>
          </a:xfrm>
          <a:prstGeom prst="rect">
            <a:avLst/>
          </a:prstGeom>
          <a:solidFill>
            <a:srgbClr val="111B30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40080" y="4206240"/>
            <a:ext cx="54864" cy="2148840"/>
          </a:xfrm>
          <a:prstGeom prst="rect">
            <a:avLst/>
          </a:prstGeom>
          <a:solidFill>
            <a:srgbClr val="D946EF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498848"/>
            <a:ext cx="502920" cy="5029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554480" y="4498848"/>
            <a:ext cx="234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Detector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914400" y="5166360"/>
            <a:ext cx="298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or Isolation Forest on 6 features per packet.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4358640" y="4206240"/>
            <a:ext cx="3444240" cy="2148840"/>
          </a:xfrm>
          <a:prstGeom prst="rect">
            <a:avLst/>
          </a:prstGeom>
          <a:solidFill>
            <a:srgbClr val="111B30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4358640" y="4206240"/>
            <a:ext cx="54864" cy="21488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2960" y="4498848"/>
            <a:ext cx="502920" cy="50292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273040" y="4498848"/>
            <a:ext cx="234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Forensics</a:t>
            </a:r>
            <a:endParaRPr lang="en-US" sz="1600" dirty="0"/>
          </a:p>
        </p:txBody>
      </p:sp>
      <p:sp>
        <p:nvSpPr>
          <p:cNvPr id="30" name="Text 22"/>
          <p:cNvSpPr/>
          <p:nvPr/>
        </p:nvSpPr>
        <p:spPr>
          <a:xfrm>
            <a:off x="4632960" y="5166360"/>
            <a:ext cx="298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200-packet ring buffer; per alert, JSONL written to disk.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8077200" y="4206240"/>
            <a:ext cx="3444240" cy="2148840"/>
          </a:xfrm>
          <a:prstGeom prst="rect">
            <a:avLst/>
          </a:prstGeom>
          <a:solidFill>
            <a:srgbClr val="111B30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8077200" y="4206240"/>
            <a:ext cx="54864" cy="2148840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1520" y="4498848"/>
            <a:ext cx="502920" cy="50292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991600" y="4498848"/>
            <a:ext cx="234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WebSocket</a:t>
            </a:r>
            <a:endParaRPr lang="en-US" sz="1600" dirty="0"/>
          </a:p>
        </p:txBody>
      </p:sp>
      <p:sp>
        <p:nvSpPr>
          <p:cNvPr id="35" name="Text 26"/>
          <p:cNvSpPr/>
          <p:nvPr/>
        </p:nvSpPr>
        <p:spPr>
          <a:xfrm>
            <a:off x="8351520" y="5166360"/>
            <a:ext cx="298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JWT-protected REST (/api/...) + /ws/alerts + /ws/traffic streaming.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IMPLEMENTATION</a:t>
            </a:r>
            <a:endParaRPr lang="en-US" sz="1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2296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758952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detection pipeline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Ovidius NIDS · Bora Cristian-Vasile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Per-packet processing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2240280"/>
            <a:ext cx="292608" cy="29260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221992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51560" y="222199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Dispatcher.handle(pkt) is called for every captured packet.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2651760"/>
            <a:ext cx="292608" cy="29260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2633472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51560" y="263347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 counters + update PPS (1 s sliding window).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0080" y="3063240"/>
            <a:ext cx="292608" cy="29260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044952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51560" y="304495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enters the 200-slot ring buffer (source of forensic snapshots).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" y="3474720"/>
            <a:ext cx="292608" cy="29260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3456432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51560" y="345643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on traffic_bus → WebSocket → live dashboard chart.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40080" y="3886200"/>
            <a:ext cx="292608" cy="29260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3867912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51560" y="386791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1/5 sampling persisted as TrafficEvent (for history).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40080" y="4297680"/>
            <a:ext cx="292608" cy="29260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" y="4279392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51560" y="427939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engine iterates the compiled rules (10 defaults).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40080" y="4709160"/>
            <a:ext cx="292608" cy="29260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6" name="Text 23"/>
          <p:cNvSpPr/>
          <p:nvPr/>
        </p:nvSpPr>
        <p:spPr>
          <a:xfrm>
            <a:off x="640080" y="4690872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051560" y="469087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detector (if active) extracts features and scores the packet.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40080" y="5120640"/>
            <a:ext cx="292608" cy="29260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9" name="Text 26"/>
          <p:cNvSpPr/>
          <p:nvPr/>
        </p:nvSpPr>
        <p:spPr>
          <a:xfrm>
            <a:off x="640080" y="5102352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051560" y="510235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Merge: signature-only, ml-only or hybrid → alerts created.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766560" y="1783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categories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766560" y="2331720"/>
            <a:ext cx="4937760" cy="1188720"/>
          </a:xfrm>
          <a:prstGeom prst="rect">
            <a:avLst/>
          </a:prstGeom>
          <a:solidFill>
            <a:srgbClr val="111B30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766560" y="2331720"/>
            <a:ext cx="54864" cy="1188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Shape 31"/>
          <p:cNvSpPr/>
          <p:nvPr/>
        </p:nvSpPr>
        <p:spPr>
          <a:xfrm>
            <a:off x="6949440" y="2532888"/>
            <a:ext cx="1280160" cy="329184"/>
          </a:xfrm>
          <a:prstGeom prst="rect">
            <a:avLst/>
          </a:prstGeom>
          <a:solidFill>
            <a:srgbClr val="10B981">
              <a:alpha val="25000"/>
            </a:srgbClr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949440" y="253288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949440" y="299008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signature engine fired. Precise, auditable.</a:t>
            </a:r>
            <a:endParaRPr lang="en-US" sz="1250" dirty="0"/>
          </a:p>
        </p:txBody>
      </p:sp>
      <p:sp>
        <p:nvSpPr>
          <p:cNvPr id="37" name="Shape 34"/>
          <p:cNvSpPr/>
          <p:nvPr/>
        </p:nvSpPr>
        <p:spPr>
          <a:xfrm>
            <a:off x="6766560" y="3657600"/>
            <a:ext cx="4937760" cy="1188720"/>
          </a:xfrm>
          <a:prstGeom prst="rect">
            <a:avLst/>
          </a:prstGeom>
          <a:solidFill>
            <a:srgbClr val="111B30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766560" y="3657600"/>
            <a:ext cx="54864" cy="1188720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39" name="Shape 36"/>
          <p:cNvSpPr/>
          <p:nvPr/>
        </p:nvSpPr>
        <p:spPr>
          <a:xfrm>
            <a:off x="6949440" y="3858768"/>
            <a:ext cx="1280160" cy="329184"/>
          </a:xfrm>
          <a:prstGeom prst="rect">
            <a:avLst/>
          </a:prstGeom>
          <a:solidFill>
            <a:srgbClr val="D946EF">
              <a:alpha val="25000"/>
            </a:srgbClr>
          </a:solidFill>
          <a:ln w="9525">
            <a:solidFill>
              <a:srgbClr val="D946E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949440" y="385876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D94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6949440" y="431596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ML model scored ≥ 0.8. Suspicious packet, no known rule.</a:t>
            </a:r>
            <a:endParaRPr lang="en-US" sz="1250" dirty="0"/>
          </a:p>
        </p:txBody>
      </p:sp>
      <p:sp>
        <p:nvSpPr>
          <p:cNvPr id="42" name="Shape 39"/>
          <p:cNvSpPr/>
          <p:nvPr/>
        </p:nvSpPr>
        <p:spPr>
          <a:xfrm>
            <a:off x="6766560" y="4983480"/>
            <a:ext cx="4937760" cy="1188720"/>
          </a:xfrm>
          <a:prstGeom prst="rect">
            <a:avLst/>
          </a:prstGeom>
          <a:solidFill>
            <a:srgbClr val="111B30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766560" y="4983480"/>
            <a:ext cx="54864" cy="1188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4" name="Shape 41"/>
          <p:cNvSpPr/>
          <p:nvPr/>
        </p:nvSpPr>
        <p:spPr>
          <a:xfrm>
            <a:off x="6949440" y="5184648"/>
            <a:ext cx="1280160" cy="329184"/>
          </a:xfrm>
          <a:prstGeom prst="rect">
            <a:avLst/>
          </a:prstGeom>
          <a:solidFill>
            <a:srgbClr val="22D3EE">
              <a:alpha val="25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949440" y="518464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6949440" y="564184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engines agreed. Maximum confidence, top triage priority.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MACHINE LEARNING</a:t>
            </a:r>
            <a:endParaRPr lang="en-US" sz="1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2296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758952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complementary algorithms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Ovidius NIDS · Bora Cristian-Vasile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94960" cy="3383280"/>
          </a:xfrm>
          <a:prstGeom prst="rect">
            <a:avLst/>
          </a:prstGeom>
          <a:solidFill>
            <a:srgbClr val="111B30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783080"/>
            <a:ext cx="54864" cy="3383280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20574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1600200" y="24688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960120" y="29718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2331720" y="2971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data (attack vs benign)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960120" y="3474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2331720" y="3474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+ calibrated probability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960120" y="3977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2331720" y="3977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feature importance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960120" y="4480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2331720" y="44805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detect unknown attacks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309360" y="1783080"/>
            <a:ext cx="5394960" cy="3383280"/>
          </a:xfrm>
          <a:prstGeom prst="rect">
            <a:avLst/>
          </a:prstGeom>
          <a:solidFill>
            <a:srgbClr val="111B30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309360" y="1783080"/>
            <a:ext cx="54864" cy="3383280"/>
          </a:xfrm>
          <a:prstGeom prst="rect">
            <a:avLst/>
          </a:prstGeom>
          <a:solidFill>
            <a:srgbClr val="D946E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103120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269480" y="20574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7269480" y="24688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D94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629400" y="29718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8001000" y="2971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traffic only — no attack labels needed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629400" y="3474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8001000" y="3474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score (higher = more suspicious)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6629400" y="3977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8001000" y="3977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unknown outliers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6629400" y="4480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8001000" y="44805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false-positive rate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640080" y="5349240"/>
            <a:ext cx="10881360" cy="1143000"/>
          </a:xfrm>
          <a:prstGeom prst="rect">
            <a:avLst/>
          </a:prstGeom>
          <a:solidFill>
            <a:srgbClr val="162241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914400" y="54864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vector (6 dimensions per packet):</a:t>
            </a:r>
            <a:endParaRPr lang="en-US" sz="1200" dirty="0"/>
          </a:p>
        </p:txBody>
      </p:sp>
      <p:sp>
        <p:nvSpPr>
          <p:cNvPr id="34" name="Shape 29"/>
          <p:cNvSpPr/>
          <p:nvPr/>
        </p:nvSpPr>
        <p:spPr>
          <a:xfrm>
            <a:off x="914400" y="5897880"/>
            <a:ext cx="1554480" cy="411480"/>
          </a:xfrm>
          <a:prstGeom prst="rect">
            <a:avLst/>
          </a:prstGeom>
          <a:solidFill>
            <a:srgbClr val="0A1220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914400" y="58978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src_port</a:t>
            </a:r>
            <a:endParaRPr lang="en-US" sz="1200" dirty="0"/>
          </a:p>
        </p:txBody>
      </p:sp>
      <p:sp>
        <p:nvSpPr>
          <p:cNvPr id="36" name="Shape 31"/>
          <p:cNvSpPr/>
          <p:nvPr/>
        </p:nvSpPr>
        <p:spPr>
          <a:xfrm>
            <a:off x="2587752" y="5897880"/>
            <a:ext cx="1554480" cy="411480"/>
          </a:xfrm>
          <a:prstGeom prst="rect">
            <a:avLst/>
          </a:prstGeom>
          <a:solidFill>
            <a:srgbClr val="0A1220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587752" y="58978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dst_port</a:t>
            </a:r>
            <a:endParaRPr lang="en-US" sz="1200" dirty="0"/>
          </a:p>
        </p:txBody>
      </p:sp>
      <p:sp>
        <p:nvSpPr>
          <p:cNvPr id="38" name="Shape 33"/>
          <p:cNvSpPr/>
          <p:nvPr/>
        </p:nvSpPr>
        <p:spPr>
          <a:xfrm>
            <a:off x="4261104" y="5897880"/>
            <a:ext cx="1554480" cy="411480"/>
          </a:xfrm>
          <a:prstGeom prst="rect">
            <a:avLst/>
          </a:prstGeom>
          <a:solidFill>
            <a:srgbClr val="0A1220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4261104" y="58978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endParaRPr lang="en-US" sz="1200" dirty="0"/>
          </a:p>
        </p:txBody>
      </p:sp>
      <p:sp>
        <p:nvSpPr>
          <p:cNvPr id="40" name="Shape 35"/>
          <p:cNvSpPr/>
          <p:nvPr/>
        </p:nvSpPr>
        <p:spPr>
          <a:xfrm>
            <a:off x="5934456" y="5897880"/>
            <a:ext cx="1554480" cy="411480"/>
          </a:xfrm>
          <a:prstGeom prst="rect">
            <a:avLst/>
          </a:prstGeom>
          <a:solidFill>
            <a:srgbClr val="0A1220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934456" y="58978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proto_id</a:t>
            </a:r>
            <a:endParaRPr lang="en-US" sz="1200" dirty="0"/>
          </a:p>
        </p:txBody>
      </p:sp>
      <p:sp>
        <p:nvSpPr>
          <p:cNvPr id="42" name="Shape 37"/>
          <p:cNvSpPr/>
          <p:nvPr/>
        </p:nvSpPr>
        <p:spPr>
          <a:xfrm>
            <a:off x="7607808" y="5897880"/>
            <a:ext cx="1554480" cy="411480"/>
          </a:xfrm>
          <a:prstGeom prst="rect">
            <a:avLst/>
          </a:prstGeom>
          <a:solidFill>
            <a:srgbClr val="0A1220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607808" y="58978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flag_mask</a:t>
            </a:r>
            <a:endParaRPr lang="en-US" sz="1200" dirty="0"/>
          </a:p>
        </p:txBody>
      </p:sp>
      <p:sp>
        <p:nvSpPr>
          <p:cNvPr id="44" name="Shape 39"/>
          <p:cNvSpPr/>
          <p:nvPr/>
        </p:nvSpPr>
        <p:spPr>
          <a:xfrm>
            <a:off x="9281160" y="5897880"/>
            <a:ext cx="1554480" cy="411480"/>
          </a:xfrm>
          <a:prstGeom prst="rect">
            <a:avLst/>
          </a:prstGeom>
          <a:solidFill>
            <a:srgbClr val="0A1220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9281160" y="58978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inter_arrival_ms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FORENSICS</a:t>
            </a:r>
            <a:endParaRPr lang="en-US" sz="1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2296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758952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Per-alert capture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Ovidius NIDS · Bora Cristian-Vasile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486400" cy="4434840"/>
          </a:xfrm>
          <a:prstGeom prst="rect">
            <a:avLst/>
          </a:prstGeom>
          <a:solidFill>
            <a:srgbClr val="111B30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783080"/>
            <a:ext cx="54864" cy="4434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1920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24231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Ring buffer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14400" y="271576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dispatcher keeps a FIFO of the last 200 captured packets.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914400" y="31363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On every alert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14400" y="34290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50 packets are extracted from the buffer and serialised as JSON Lines.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914400" y="384962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Association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914400" y="414223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is linked to the alert through a foreign key in the database.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914400" y="456285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Download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914400" y="485546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endpoint /api/forensics/alert/{id}/download via JWT.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914400" y="527608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Replay in the UI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914400" y="556869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Alert Detail page shows the packet timeline and payload preview.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400800" y="1783080"/>
            <a:ext cx="5120640" cy="4434840"/>
          </a:xfrm>
          <a:prstGeom prst="rect">
            <a:avLst/>
          </a:prstGeom>
          <a:solidFill>
            <a:srgbClr val="0A1220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2940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alert_12_1716387210.jsonl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629400" y="2286000"/>
            <a:ext cx="4663440" cy="18288"/>
          </a:xfrm>
          <a:prstGeom prst="rect">
            <a:avLst/>
          </a:prstGeom>
          <a:solidFill>
            <a:srgbClr val="1A2D4F"/>
          </a:solidFill>
          <a:ln/>
        </p:spPr>
      </p:sp>
      <p:sp>
        <p:nvSpPr>
          <p:cNvPr id="22" name="Text 19"/>
          <p:cNvSpPr/>
          <p:nvPr/>
        </p:nvSpPr>
        <p:spPr>
          <a:xfrm>
            <a:off x="6629400" y="246888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{"ts": "...:32.481Z", "protocol": "TCP",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"src_ip": "45.77.12.88", "src_port": 51232,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"dst_ip": "10.0.0.10", "dst_port": 22,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"length": 60, "flags": "S",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"payload_preview": ""}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{"ts": "...:32.491Z", "protocol": "TCP",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"src_ip": "45.77.12.88", "src_port": 51233,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"dst_ip": "10.0.0.10", "dst_port": 80,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"length": 60, "flags": "S",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"payload_preview": ""}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50 packets total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USAGE EXAMPLE</a:t>
            </a:r>
            <a:endParaRPr lang="en-US" sz="1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2296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758952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and Attack Console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Ovidius NIDS · Bora Cristian-Vasile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440680" cy="4434840"/>
          </a:xfrm>
          <a:prstGeom prst="rect">
            <a:avLst/>
          </a:prstGeom>
          <a:solidFill>
            <a:srgbClr val="111B30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196596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914400" y="2377440"/>
            <a:ext cx="4892040" cy="777240"/>
          </a:xfrm>
          <a:prstGeom prst="rect">
            <a:avLst/>
          </a:prstGeom>
          <a:solidFill>
            <a:srgbClr val="162241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4400" y="2377440"/>
            <a:ext cx="54864" cy="777240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56032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host  (simulator)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600200" y="2743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ovidius-nids-sensor   ·   10.0.0.10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914400" y="3291840"/>
            <a:ext cx="1017270" cy="868680"/>
          </a:xfrm>
          <a:prstGeom prst="rect">
            <a:avLst/>
          </a:prstGeom>
          <a:solidFill>
            <a:srgbClr val="162241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14400" y="3337560"/>
            <a:ext cx="1017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(24h)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914400" y="3566160"/>
            <a:ext cx="10172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2023110" y="3291840"/>
            <a:ext cx="1017270" cy="868680"/>
          </a:xfrm>
          <a:prstGeom prst="rect">
            <a:avLst/>
          </a:prstGeom>
          <a:solidFill>
            <a:srgbClr val="162241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023110" y="3337560"/>
            <a:ext cx="1017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2023110" y="3566160"/>
            <a:ext cx="10172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3131820" y="3291840"/>
            <a:ext cx="1017270" cy="868680"/>
          </a:xfrm>
          <a:prstGeom prst="rect">
            <a:avLst/>
          </a:prstGeom>
          <a:solidFill>
            <a:srgbClr val="162241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131820" y="3337560"/>
            <a:ext cx="1017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Packets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3131820" y="3566160"/>
            <a:ext cx="10172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12.4k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4240530" y="3291840"/>
            <a:ext cx="1017270" cy="868680"/>
          </a:xfrm>
          <a:prstGeom prst="rect">
            <a:avLst/>
          </a:prstGeom>
          <a:solidFill>
            <a:srgbClr val="162241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240530" y="3337560"/>
            <a:ext cx="1017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PPS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4240530" y="3566160"/>
            <a:ext cx="10172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31.2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914400" y="4389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PACKET RATE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914400" y="4709160"/>
            <a:ext cx="4892040" cy="1371600"/>
          </a:xfrm>
          <a:prstGeom prst="rect">
            <a:avLst/>
          </a:prstGeom>
          <a:solidFill>
            <a:srgbClr val="0A1220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1051560" y="5857875"/>
            <a:ext cx="196253" cy="85725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28" name="Shape 24"/>
          <p:cNvSpPr/>
          <p:nvPr/>
        </p:nvSpPr>
        <p:spPr>
          <a:xfrm>
            <a:off x="1282446" y="5800725"/>
            <a:ext cx="196253" cy="142875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29" name="Shape 25"/>
          <p:cNvSpPr/>
          <p:nvPr/>
        </p:nvSpPr>
        <p:spPr>
          <a:xfrm>
            <a:off x="1513332" y="5715000"/>
            <a:ext cx="196253" cy="22860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30" name="Shape 26"/>
          <p:cNvSpPr/>
          <p:nvPr/>
        </p:nvSpPr>
        <p:spPr>
          <a:xfrm>
            <a:off x="1744218" y="5600700"/>
            <a:ext cx="196253" cy="34290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31" name="Shape 27"/>
          <p:cNvSpPr/>
          <p:nvPr/>
        </p:nvSpPr>
        <p:spPr>
          <a:xfrm>
            <a:off x="1975104" y="5429250"/>
            <a:ext cx="196253" cy="5143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32" name="Shape 28"/>
          <p:cNvSpPr/>
          <p:nvPr/>
        </p:nvSpPr>
        <p:spPr>
          <a:xfrm>
            <a:off x="2205990" y="5229225"/>
            <a:ext cx="196253" cy="714375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33" name="Shape 29"/>
          <p:cNvSpPr/>
          <p:nvPr/>
        </p:nvSpPr>
        <p:spPr>
          <a:xfrm>
            <a:off x="2436876" y="5314950"/>
            <a:ext cx="196253" cy="6286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34" name="Shape 30"/>
          <p:cNvSpPr/>
          <p:nvPr/>
        </p:nvSpPr>
        <p:spPr>
          <a:xfrm>
            <a:off x="2667762" y="5429250"/>
            <a:ext cx="196253" cy="5143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35" name="Shape 31"/>
          <p:cNvSpPr/>
          <p:nvPr/>
        </p:nvSpPr>
        <p:spPr>
          <a:xfrm>
            <a:off x="2898648" y="5600700"/>
            <a:ext cx="196253" cy="34290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36" name="Shape 32"/>
          <p:cNvSpPr/>
          <p:nvPr/>
        </p:nvSpPr>
        <p:spPr>
          <a:xfrm>
            <a:off x="3129534" y="5715000"/>
            <a:ext cx="196253" cy="22860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37" name="Shape 33"/>
          <p:cNvSpPr/>
          <p:nvPr/>
        </p:nvSpPr>
        <p:spPr>
          <a:xfrm>
            <a:off x="3360420" y="5514975"/>
            <a:ext cx="196253" cy="428625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38" name="Shape 34"/>
          <p:cNvSpPr/>
          <p:nvPr/>
        </p:nvSpPr>
        <p:spPr>
          <a:xfrm>
            <a:off x="3591306" y="5143500"/>
            <a:ext cx="196253" cy="80010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39" name="Shape 35"/>
          <p:cNvSpPr/>
          <p:nvPr/>
        </p:nvSpPr>
        <p:spPr>
          <a:xfrm>
            <a:off x="3822192" y="4943475"/>
            <a:ext cx="196253" cy="1000125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40" name="Shape 36"/>
          <p:cNvSpPr/>
          <p:nvPr/>
        </p:nvSpPr>
        <p:spPr>
          <a:xfrm>
            <a:off x="4053078" y="5086350"/>
            <a:ext cx="196253" cy="8572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41" name="Shape 37"/>
          <p:cNvSpPr/>
          <p:nvPr/>
        </p:nvSpPr>
        <p:spPr>
          <a:xfrm>
            <a:off x="4283964" y="5314950"/>
            <a:ext cx="196253" cy="6286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42" name="Shape 38"/>
          <p:cNvSpPr/>
          <p:nvPr/>
        </p:nvSpPr>
        <p:spPr>
          <a:xfrm>
            <a:off x="4514850" y="5429250"/>
            <a:ext cx="196253" cy="5143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43" name="Shape 39"/>
          <p:cNvSpPr/>
          <p:nvPr/>
        </p:nvSpPr>
        <p:spPr>
          <a:xfrm>
            <a:off x="4745736" y="5543550"/>
            <a:ext cx="196253" cy="4000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44" name="Shape 40"/>
          <p:cNvSpPr/>
          <p:nvPr/>
        </p:nvSpPr>
        <p:spPr>
          <a:xfrm>
            <a:off x="4976622" y="5657850"/>
            <a:ext cx="196253" cy="2857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45" name="Shape 41"/>
          <p:cNvSpPr/>
          <p:nvPr/>
        </p:nvSpPr>
        <p:spPr>
          <a:xfrm>
            <a:off x="5207508" y="5772150"/>
            <a:ext cx="196253" cy="1714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46" name="Shape 42"/>
          <p:cNvSpPr/>
          <p:nvPr/>
        </p:nvSpPr>
        <p:spPr>
          <a:xfrm>
            <a:off x="5438394" y="5829300"/>
            <a:ext cx="196253" cy="11430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47" name="Shape 43"/>
          <p:cNvSpPr/>
          <p:nvPr/>
        </p:nvSpPr>
        <p:spPr>
          <a:xfrm>
            <a:off x="6263640" y="1783080"/>
            <a:ext cx="5257800" cy="4434840"/>
          </a:xfrm>
          <a:prstGeom prst="rect">
            <a:avLst/>
          </a:prstGeom>
          <a:solidFill>
            <a:srgbClr val="111B30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6537960" y="19659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CONSOLE</a:t>
            </a:r>
            <a:endParaRPr lang="en-US" sz="1100" dirty="0"/>
          </a:p>
        </p:txBody>
      </p:sp>
      <p:sp>
        <p:nvSpPr>
          <p:cNvPr id="49" name="Shape 45"/>
          <p:cNvSpPr/>
          <p:nvPr/>
        </p:nvSpPr>
        <p:spPr>
          <a:xfrm>
            <a:off x="6537960" y="2423160"/>
            <a:ext cx="2272284" cy="777240"/>
          </a:xfrm>
          <a:prstGeom prst="rect">
            <a:avLst/>
          </a:prstGeom>
          <a:solidFill>
            <a:srgbClr val="162241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6537960" y="2423160"/>
            <a:ext cx="54864" cy="7772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5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587752"/>
            <a:ext cx="411480" cy="411480"/>
          </a:xfrm>
          <a:prstGeom prst="rect">
            <a:avLst/>
          </a:prstGeom>
        </p:spPr>
      </p:pic>
      <p:sp>
        <p:nvSpPr>
          <p:cNvPr id="52" name="Text 47"/>
          <p:cNvSpPr/>
          <p:nvPr/>
        </p:nvSpPr>
        <p:spPr>
          <a:xfrm>
            <a:off x="7178040" y="2532888"/>
            <a:ext cx="14950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scan</a:t>
            </a:r>
            <a:endParaRPr lang="en-US" sz="1150" dirty="0"/>
          </a:p>
        </p:txBody>
      </p:sp>
      <p:sp>
        <p:nvSpPr>
          <p:cNvPr id="53" name="Text 48"/>
          <p:cNvSpPr/>
          <p:nvPr/>
        </p:nvSpPr>
        <p:spPr>
          <a:xfrm>
            <a:off x="7178040" y="2852928"/>
            <a:ext cx="14950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 packets · 30 alerts</a:t>
            </a:r>
            <a:endParaRPr lang="en-US" sz="900" dirty="0"/>
          </a:p>
        </p:txBody>
      </p:sp>
      <p:sp>
        <p:nvSpPr>
          <p:cNvPr id="54" name="Shape 49"/>
          <p:cNvSpPr/>
          <p:nvPr/>
        </p:nvSpPr>
        <p:spPr>
          <a:xfrm>
            <a:off x="8974836" y="2423160"/>
            <a:ext cx="2272284" cy="777240"/>
          </a:xfrm>
          <a:prstGeom prst="rect">
            <a:avLst/>
          </a:prstGeom>
          <a:solidFill>
            <a:srgbClr val="162241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8974836" y="2423160"/>
            <a:ext cx="54864" cy="7772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5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1996" y="2587752"/>
            <a:ext cx="411480" cy="411480"/>
          </a:xfrm>
          <a:prstGeom prst="rect">
            <a:avLst/>
          </a:prstGeom>
        </p:spPr>
      </p:pic>
      <p:sp>
        <p:nvSpPr>
          <p:cNvPr id="57" name="Text 51"/>
          <p:cNvSpPr/>
          <p:nvPr/>
        </p:nvSpPr>
        <p:spPr>
          <a:xfrm>
            <a:off x="9614916" y="2532888"/>
            <a:ext cx="14950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brute-force</a:t>
            </a:r>
            <a:endParaRPr lang="en-US" sz="1150" dirty="0"/>
          </a:p>
        </p:txBody>
      </p:sp>
      <p:sp>
        <p:nvSpPr>
          <p:cNvPr id="58" name="Text 52"/>
          <p:cNvSpPr/>
          <p:nvPr/>
        </p:nvSpPr>
        <p:spPr>
          <a:xfrm>
            <a:off x="9614916" y="2852928"/>
            <a:ext cx="14950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packets · 12 alerts</a:t>
            </a:r>
            <a:endParaRPr lang="en-US" sz="900" dirty="0"/>
          </a:p>
        </p:txBody>
      </p:sp>
      <p:sp>
        <p:nvSpPr>
          <p:cNvPr id="59" name="Shape 53"/>
          <p:cNvSpPr/>
          <p:nvPr/>
        </p:nvSpPr>
        <p:spPr>
          <a:xfrm>
            <a:off x="6537960" y="3364992"/>
            <a:ext cx="2272284" cy="777240"/>
          </a:xfrm>
          <a:prstGeom prst="rect">
            <a:avLst/>
          </a:prstGeom>
          <a:solidFill>
            <a:srgbClr val="162241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60" name="Shape 54"/>
          <p:cNvSpPr/>
          <p:nvPr/>
        </p:nvSpPr>
        <p:spPr>
          <a:xfrm>
            <a:off x="6537960" y="3364992"/>
            <a:ext cx="54864" cy="7772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6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3529584"/>
            <a:ext cx="411480" cy="411480"/>
          </a:xfrm>
          <a:prstGeom prst="rect">
            <a:avLst/>
          </a:prstGeom>
        </p:spPr>
      </p:pic>
      <p:sp>
        <p:nvSpPr>
          <p:cNvPr id="62" name="Text 55"/>
          <p:cNvSpPr/>
          <p:nvPr/>
        </p:nvSpPr>
        <p:spPr>
          <a:xfrm>
            <a:off x="7178040" y="3474720"/>
            <a:ext cx="14950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ICMP flood</a:t>
            </a:r>
            <a:endParaRPr lang="en-US" sz="1150" dirty="0"/>
          </a:p>
        </p:txBody>
      </p:sp>
      <p:sp>
        <p:nvSpPr>
          <p:cNvPr id="63" name="Text 56"/>
          <p:cNvSpPr/>
          <p:nvPr/>
        </p:nvSpPr>
        <p:spPr>
          <a:xfrm>
            <a:off x="7178040" y="3794760"/>
            <a:ext cx="14950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 packets · 40 alerts</a:t>
            </a:r>
            <a:endParaRPr lang="en-US" sz="900" dirty="0"/>
          </a:p>
        </p:txBody>
      </p:sp>
      <p:sp>
        <p:nvSpPr>
          <p:cNvPr id="64" name="Shape 57"/>
          <p:cNvSpPr/>
          <p:nvPr/>
        </p:nvSpPr>
        <p:spPr>
          <a:xfrm>
            <a:off x="8974836" y="3364992"/>
            <a:ext cx="2272284" cy="777240"/>
          </a:xfrm>
          <a:prstGeom prst="rect">
            <a:avLst/>
          </a:prstGeom>
          <a:solidFill>
            <a:srgbClr val="162241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65" name="Shape 58"/>
          <p:cNvSpPr/>
          <p:nvPr/>
        </p:nvSpPr>
        <p:spPr>
          <a:xfrm>
            <a:off x="8974836" y="3364992"/>
            <a:ext cx="54864" cy="77724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6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1996" y="3529584"/>
            <a:ext cx="411480" cy="411480"/>
          </a:xfrm>
          <a:prstGeom prst="rect">
            <a:avLst/>
          </a:prstGeom>
        </p:spPr>
      </p:pic>
      <p:sp>
        <p:nvSpPr>
          <p:cNvPr id="67" name="Text 59"/>
          <p:cNvSpPr/>
          <p:nvPr/>
        </p:nvSpPr>
        <p:spPr>
          <a:xfrm>
            <a:off x="9614916" y="3474720"/>
            <a:ext cx="14950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1150" dirty="0"/>
          </a:p>
        </p:txBody>
      </p:sp>
      <p:sp>
        <p:nvSpPr>
          <p:cNvPr id="68" name="Text 60"/>
          <p:cNvSpPr/>
          <p:nvPr/>
        </p:nvSpPr>
        <p:spPr>
          <a:xfrm>
            <a:off x="9614916" y="3794760"/>
            <a:ext cx="14950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packet · 1 alert</a:t>
            </a:r>
            <a:endParaRPr lang="en-US" sz="900" dirty="0"/>
          </a:p>
        </p:txBody>
      </p:sp>
      <p:sp>
        <p:nvSpPr>
          <p:cNvPr id="69" name="Shape 61"/>
          <p:cNvSpPr/>
          <p:nvPr/>
        </p:nvSpPr>
        <p:spPr>
          <a:xfrm>
            <a:off x="6537960" y="4306824"/>
            <a:ext cx="2272284" cy="777240"/>
          </a:xfrm>
          <a:prstGeom prst="rect">
            <a:avLst/>
          </a:prstGeom>
          <a:solidFill>
            <a:srgbClr val="162241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70" name="Shape 62"/>
          <p:cNvSpPr/>
          <p:nvPr/>
        </p:nvSpPr>
        <p:spPr>
          <a:xfrm>
            <a:off x="6537960" y="4306824"/>
            <a:ext cx="54864" cy="77724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7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0" y="4471416"/>
            <a:ext cx="411480" cy="411480"/>
          </a:xfrm>
          <a:prstGeom prst="rect">
            <a:avLst/>
          </a:prstGeom>
        </p:spPr>
      </p:pic>
      <p:sp>
        <p:nvSpPr>
          <p:cNvPr id="72" name="Text 63"/>
          <p:cNvSpPr/>
          <p:nvPr/>
        </p:nvSpPr>
        <p:spPr>
          <a:xfrm>
            <a:off x="7178040" y="4416552"/>
            <a:ext cx="14950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inject.</a:t>
            </a:r>
            <a:endParaRPr lang="en-US" sz="1150" dirty="0"/>
          </a:p>
        </p:txBody>
      </p:sp>
      <p:sp>
        <p:nvSpPr>
          <p:cNvPr id="73" name="Text 64"/>
          <p:cNvSpPr/>
          <p:nvPr/>
        </p:nvSpPr>
        <p:spPr>
          <a:xfrm>
            <a:off x="7178040" y="4736592"/>
            <a:ext cx="14950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packet · 1 alert</a:t>
            </a:r>
            <a:endParaRPr lang="en-US" sz="900" dirty="0"/>
          </a:p>
        </p:txBody>
      </p:sp>
      <p:sp>
        <p:nvSpPr>
          <p:cNvPr id="74" name="Shape 65"/>
          <p:cNvSpPr/>
          <p:nvPr/>
        </p:nvSpPr>
        <p:spPr>
          <a:xfrm>
            <a:off x="8974836" y="4306824"/>
            <a:ext cx="2272284" cy="777240"/>
          </a:xfrm>
          <a:prstGeom prst="rect">
            <a:avLst/>
          </a:prstGeom>
          <a:solidFill>
            <a:srgbClr val="162241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75" name="Shape 66"/>
          <p:cNvSpPr/>
          <p:nvPr/>
        </p:nvSpPr>
        <p:spPr>
          <a:xfrm>
            <a:off x="8974836" y="4306824"/>
            <a:ext cx="54864" cy="77724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7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11996" y="4471416"/>
            <a:ext cx="411480" cy="411480"/>
          </a:xfrm>
          <a:prstGeom prst="rect">
            <a:avLst/>
          </a:prstGeom>
        </p:spPr>
      </p:pic>
      <p:sp>
        <p:nvSpPr>
          <p:cNvPr id="77" name="Text 67"/>
          <p:cNvSpPr/>
          <p:nvPr/>
        </p:nvSpPr>
        <p:spPr>
          <a:xfrm>
            <a:off x="9614916" y="4416552"/>
            <a:ext cx="14950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shell</a:t>
            </a:r>
            <a:endParaRPr lang="en-US" sz="1150" dirty="0"/>
          </a:p>
        </p:txBody>
      </p:sp>
      <p:sp>
        <p:nvSpPr>
          <p:cNvPr id="78" name="Text 68"/>
          <p:cNvSpPr/>
          <p:nvPr/>
        </p:nvSpPr>
        <p:spPr>
          <a:xfrm>
            <a:off x="9614916" y="4736592"/>
            <a:ext cx="14950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packet · 1 alert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ALERT FLOW</a:t>
            </a:r>
            <a:endParaRPr lang="en-US" sz="1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2296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758952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attack to triage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Ovidius NIDS · Bora Cristian-Vasile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03520" cy="1371600"/>
          </a:xfrm>
          <a:prstGeom prst="rect">
            <a:avLst/>
          </a:prstGeom>
          <a:solidFill>
            <a:srgbClr val="111B30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783080"/>
            <a:ext cx="54864" cy="1371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Attack triggered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23774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clicks "Nmap port scan" in the Attack Console. The simulator generates 30 TCP SYN packets from 185.220.101.5 toward 10.0.0.10.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17920" y="1783080"/>
            <a:ext cx="5303520" cy="1371600"/>
          </a:xfrm>
          <a:prstGeom prst="rect">
            <a:avLst/>
          </a:prstGeom>
          <a:solidFill>
            <a:srgbClr val="111B30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17920" y="1783080"/>
            <a:ext cx="54864" cy="13716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Capture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92240" y="23774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dispatcher receives each packet, updates the ring buffer and publishes on traffic_bus for the live chart.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3355848"/>
            <a:ext cx="5303520" cy="1371600"/>
          </a:xfrm>
          <a:prstGeom prst="rect">
            <a:avLst/>
          </a:prstGeom>
          <a:solidFill>
            <a:srgbClr val="111B30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0080" y="3355848"/>
            <a:ext cx="54864" cy="1371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35387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Signature detection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914400" y="395020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8th packet, the "Nmap TCP SYN scan" rule crosses the threshold (8 SYNs in 5 s) — the alert is created.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217920" y="3355848"/>
            <a:ext cx="5303520" cy="1371600"/>
          </a:xfrm>
          <a:prstGeom prst="rect">
            <a:avLst/>
          </a:prstGeom>
          <a:solidFill>
            <a:srgbClr val="111B30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17920" y="3355848"/>
            <a:ext cx="54864" cy="1371600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20" name="Text 17"/>
          <p:cNvSpPr/>
          <p:nvPr/>
        </p:nvSpPr>
        <p:spPr>
          <a:xfrm>
            <a:off x="6492240" y="35387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4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Persistence + forensics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492240" y="395020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alert is saved in SQLite. A JSONL ring-tail with the last 50 packets is written to disk and linked to the alert.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40080" y="4928616"/>
            <a:ext cx="5303520" cy="1371600"/>
          </a:xfrm>
          <a:prstGeom prst="rect">
            <a:avLst/>
          </a:prstGeom>
          <a:solidFill>
            <a:srgbClr val="111B30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0080" y="4928616"/>
            <a:ext cx="54864" cy="13716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4" name="Text 21"/>
          <p:cNvSpPr/>
          <p:nvPr/>
        </p:nvSpPr>
        <p:spPr>
          <a:xfrm>
            <a:off x="914400" y="511149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Real-time notification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914400" y="5522976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alert_bus publishes on WebSocket. The Alerts page receives the alert instantly via /ws/alerts.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217920" y="4928616"/>
            <a:ext cx="5303520" cy="1371600"/>
          </a:xfrm>
          <a:prstGeom prst="rect">
            <a:avLst/>
          </a:prstGeom>
          <a:solidFill>
            <a:srgbClr val="111B30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17920" y="4928616"/>
            <a:ext cx="54864" cy="1371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8" name="Text 25"/>
          <p:cNvSpPr/>
          <p:nvPr/>
        </p:nvSpPr>
        <p:spPr>
          <a:xfrm>
            <a:off x="6492240" y="511149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Triage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492240" y="5522976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analyst opens Alert Detail, sees the packet timeline and downloads the JSONL capture for investigation.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COMPETITION</a:t>
            </a:r>
            <a:endParaRPr lang="en-US" sz="1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2296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758952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applications on the market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Ovidius NIDS · Bora Cristian-Vasile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10881360" cy="384048"/>
          </a:xfrm>
          <a:prstGeom prst="rect">
            <a:avLst/>
          </a:prstGeom>
          <a:solidFill>
            <a:srgbClr val="162241"/>
          </a:solidFill>
          <a:ln w="6350">
            <a:solidFill>
              <a:srgbClr val="1A2D4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6916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663440" y="169164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Snort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806440" y="169164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Suricata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949440" y="169164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Zeek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092440" y="169164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235440" y="169164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0378440" y="1691640"/>
            <a:ext cx="1143000" cy="3310128"/>
          </a:xfrm>
          <a:prstGeom prst="rect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10378440" y="169164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Ovidius NIDS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0080" y="2075688"/>
            <a:ext cx="10881360" cy="9144"/>
          </a:xfrm>
          <a:prstGeom prst="rect">
            <a:avLst/>
          </a:prstGeom>
          <a:solidFill>
            <a:srgbClr val="1A2D4F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20756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engine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663440" y="207568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806440" y="207568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949440" y="207568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092440" y="207568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235440" y="207568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0378440" y="207568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40080" y="2368296"/>
            <a:ext cx="10881360" cy="292608"/>
          </a:xfrm>
          <a:prstGeom prst="rect">
            <a:avLst/>
          </a:prstGeom>
          <a:solidFill>
            <a:srgbClr val="111B30">
              <a:alpha val="70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640080" y="2368296"/>
            <a:ext cx="10881360" cy="9144"/>
          </a:xfrm>
          <a:prstGeom prst="rect">
            <a:avLst/>
          </a:prstGeom>
          <a:solidFill>
            <a:srgbClr val="1A2D4F"/>
          </a:solidFill>
          <a:ln/>
        </p:spPr>
      </p:sp>
      <p:sp>
        <p:nvSpPr>
          <p:cNvPr id="25" name="Text 22"/>
          <p:cNvSpPr/>
          <p:nvPr/>
        </p:nvSpPr>
        <p:spPr>
          <a:xfrm>
            <a:off x="822960" y="236829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engine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4663440" y="2368296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806440" y="2368296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949440" y="2368296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092440" y="2368296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9235440" y="2368296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0378440" y="2368296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40080" y="2660904"/>
            <a:ext cx="10881360" cy="9144"/>
          </a:xfrm>
          <a:prstGeom prst="rect">
            <a:avLst/>
          </a:prstGeom>
          <a:solidFill>
            <a:srgbClr val="1A2D4F"/>
          </a:solidFill>
          <a:ln/>
        </p:spPr>
      </p:sp>
      <p:sp>
        <p:nvSpPr>
          <p:cNvPr id="33" name="Text 30"/>
          <p:cNvSpPr/>
          <p:nvPr/>
        </p:nvSpPr>
        <p:spPr>
          <a:xfrm>
            <a:off x="822960" y="266090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category (signature + ML)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4663440" y="266090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5806440" y="266090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949440" y="266090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8092440" y="266090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9235440" y="266090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10378440" y="266090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640080" y="2953512"/>
            <a:ext cx="10881360" cy="292608"/>
          </a:xfrm>
          <a:prstGeom prst="rect">
            <a:avLst/>
          </a:prstGeom>
          <a:solidFill>
            <a:srgbClr val="111B30">
              <a:alpha val="70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640080" y="2953512"/>
            <a:ext cx="10881360" cy="9144"/>
          </a:xfrm>
          <a:prstGeom prst="rect">
            <a:avLst/>
          </a:prstGeom>
          <a:solidFill>
            <a:srgbClr val="1A2D4F"/>
          </a:solidFill>
          <a:ln/>
        </p:spPr>
      </p:sp>
      <p:sp>
        <p:nvSpPr>
          <p:cNvPr id="42" name="Text 39"/>
          <p:cNvSpPr/>
          <p:nvPr/>
        </p:nvSpPr>
        <p:spPr>
          <a:xfrm>
            <a:off x="822960" y="29535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analyst UI</a:t>
            </a:r>
            <a:endParaRPr lang="en-US" sz="1150" dirty="0"/>
          </a:p>
        </p:txBody>
      </p:sp>
      <p:sp>
        <p:nvSpPr>
          <p:cNvPr id="43" name="Text 40"/>
          <p:cNvSpPr/>
          <p:nvPr/>
        </p:nvSpPr>
        <p:spPr>
          <a:xfrm>
            <a:off x="4663440" y="295351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5806440" y="295351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6949440" y="295351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8092440" y="295351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9235440" y="295351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10378440" y="295351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640080" y="3246120"/>
            <a:ext cx="10881360" cy="9144"/>
          </a:xfrm>
          <a:prstGeom prst="rect">
            <a:avLst/>
          </a:prstGeom>
          <a:solidFill>
            <a:srgbClr val="1A2D4F"/>
          </a:solidFill>
          <a:ln/>
        </p:spPr>
      </p:sp>
      <p:sp>
        <p:nvSpPr>
          <p:cNvPr id="50" name="Text 47"/>
          <p:cNvSpPr/>
          <p:nvPr/>
        </p:nvSpPr>
        <p:spPr>
          <a:xfrm>
            <a:off x="822960" y="3246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Per-alert forensic capture</a:t>
            </a:r>
            <a:endParaRPr lang="en-US" sz="1150" dirty="0"/>
          </a:p>
        </p:txBody>
      </p:sp>
      <p:sp>
        <p:nvSpPr>
          <p:cNvPr id="51" name="Text 48"/>
          <p:cNvSpPr/>
          <p:nvPr/>
        </p:nvSpPr>
        <p:spPr>
          <a:xfrm>
            <a:off x="4663440" y="324612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5806440" y="324612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6949440" y="324612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8092440" y="324612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9235440" y="324612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10378440" y="324612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640080" y="3538728"/>
            <a:ext cx="10881360" cy="292608"/>
          </a:xfrm>
          <a:prstGeom prst="rect">
            <a:avLst/>
          </a:prstGeom>
          <a:solidFill>
            <a:srgbClr val="111B30">
              <a:alpha val="70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640080" y="3538728"/>
            <a:ext cx="10881360" cy="9144"/>
          </a:xfrm>
          <a:prstGeom prst="rect">
            <a:avLst/>
          </a:prstGeom>
          <a:solidFill>
            <a:srgbClr val="1A2D4F"/>
          </a:solidFill>
          <a:ln/>
        </p:spPr>
      </p:sp>
      <p:sp>
        <p:nvSpPr>
          <p:cNvPr id="59" name="Text 56"/>
          <p:cNvSpPr/>
          <p:nvPr/>
        </p:nvSpPr>
        <p:spPr>
          <a:xfrm>
            <a:off x="822960" y="35387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streaming in UI</a:t>
            </a:r>
            <a:endParaRPr lang="en-US" sz="1150" dirty="0"/>
          </a:p>
        </p:txBody>
      </p:sp>
      <p:sp>
        <p:nvSpPr>
          <p:cNvPr id="60" name="Text 57"/>
          <p:cNvSpPr/>
          <p:nvPr/>
        </p:nvSpPr>
        <p:spPr>
          <a:xfrm>
            <a:off x="4663440" y="353872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61" name="Text 58"/>
          <p:cNvSpPr/>
          <p:nvPr/>
        </p:nvSpPr>
        <p:spPr>
          <a:xfrm>
            <a:off x="5806440" y="353872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62" name="Text 59"/>
          <p:cNvSpPr/>
          <p:nvPr/>
        </p:nvSpPr>
        <p:spPr>
          <a:xfrm>
            <a:off x="6949440" y="353872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63" name="Text 60"/>
          <p:cNvSpPr/>
          <p:nvPr/>
        </p:nvSpPr>
        <p:spPr>
          <a:xfrm>
            <a:off x="8092440" y="353872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600" dirty="0"/>
          </a:p>
        </p:txBody>
      </p:sp>
      <p:sp>
        <p:nvSpPr>
          <p:cNvPr id="64" name="Text 61"/>
          <p:cNvSpPr/>
          <p:nvPr/>
        </p:nvSpPr>
        <p:spPr>
          <a:xfrm>
            <a:off x="9235440" y="353872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5" name="Text 62"/>
          <p:cNvSpPr/>
          <p:nvPr/>
        </p:nvSpPr>
        <p:spPr>
          <a:xfrm>
            <a:off x="10378440" y="353872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6" name="Shape 63"/>
          <p:cNvSpPr/>
          <p:nvPr/>
        </p:nvSpPr>
        <p:spPr>
          <a:xfrm>
            <a:off x="640080" y="3831336"/>
            <a:ext cx="10881360" cy="9144"/>
          </a:xfrm>
          <a:prstGeom prst="rect">
            <a:avLst/>
          </a:prstGeom>
          <a:solidFill>
            <a:srgbClr val="1A2D4F"/>
          </a:solidFill>
          <a:ln/>
        </p:spPr>
      </p:sp>
      <p:sp>
        <p:nvSpPr>
          <p:cNvPr id="67" name="Text 64"/>
          <p:cNvSpPr/>
          <p:nvPr/>
        </p:nvSpPr>
        <p:spPr>
          <a:xfrm>
            <a:off x="822960" y="38313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editable from UI (hot reload)</a:t>
            </a:r>
            <a:endParaRPr lang="en-US" sz="1150" dirty="0"/>
          </a:p>
        </p:txBody>
      </p:sp>
      <p:sp>
        <p:nvSpPr>
          <p:cNvPr id="68" name="Text 65"/>
          <p:cNvSpPr/>
          <p:nvPr/>
        </p:nvSpPr>
        <p:spPr>
          <a:xfrm>
            <a:off x="4663440" y="3831336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69" name="Text 66"/>
          <p:cNvSpPr/>
          <p:nvPr/>
        </p:nvSpPr>
        <p:spPr>
          <a:xfrm>
            <a:off x="5806440" y="3831336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70" name="Text 67"/>
          <p:cNvSpPr/>
          <p:nvPr/>
        </p:nvSpPr>
        <p:spPr>
          <a:xfrm>
            <a:off x="6949440" y="3831336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71" name="Text 68"/>
          <p:cNvSpPr/>
          <p:nvPr/>
        </p:nvSpPr>
        <p:spPr>
          <a:xfrm>
            <a:off x="8092440" y="3831336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2" name="Text 69"/>
          <p:cNvSpPr/>
          <p:nvPr/>
        </p:nvSpPr>
        <p:spPr>
          <a:xfrm>
            <a:off x="9235440" y="3831336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3" name="Text 70"/>
          <p:cNvSpPr/>
          <p:nvPr/>
        </p:nvSpPr>
        <p:spPr>
          <a:xfrm>
            <a:off x="10378440" y="3831336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4" name="Shape 71"/>
          <p:cNvSpPr/>
          <p:nvPr/>
        </p:nvSpPr>
        <p:spPr>
          <a:xfrm>
            <a:off x="640080" y="4123944"/>
            <a:ext cx="10881360" cy="292608"/>
          </a:xfrm>
          <a:prstGeom prst="rect">
            <a:avLst/>
          </a:prstGeom>
          <a:solidFill>
            <a:srgbClr val="111B30">
              <a:alpha val="70000"/>
            </a:srgbClr>
          </a:solidFill>
          <a:ln/>
        </p:spPr>
      </p:sp>
      <p:sp>
        <p:nvSpPr>
          <p:cNvPr id="75" name="Shape 72"/>
          <p:cNvSpPr/>
          <p:nvPr/>
        </p:nvSpPr>
        <p:spPr>
          <a:xfrm>
            <a:off x="640080" y="4123944"/>
            <a:ext cx="10881360" cy="9144"/>
          </a:xfrm>
          <a:prstGeom prst="rect">
            <a:avLst/>
          </a:prstGeom>
          <a:solidFill>
            <a:srgbClr val="1A2D4F"/>
          </a:solidFill>
          <a:ln/>
        </p:spPr>
      </p:sp>
      <p:sp>
        <p:nvSpPr>
          <p:cNvPr id="76" name="Text 73"/>
          <p:cNvSpPr/>
          <p:nvPr/>
        </p:nvSpPr>
        <p:spPr>
          <a:xfrm>
            <a:off x="822960" y="41239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deploy (Win/Mac/Linux)</a:t>
            </a:r>
            <a:endParaRPr lang="en-US" sz="1150" dirty="0"/>
          </a:p>
        </p:txBody>
      </p:sp>
      <p:sp>
        <p:nvSpPr>
          <p:cNvPr id="77" name="Text 74"/>
          <p:cNvSpPr/>
          <p:nvPr/>
        </p:nvSpPr>
        <p:spPr>
          <a:xfrm>
            <a:off x="4663440" y="412394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78" name="Text 75"/>
          <p:cNvSpPr/>
          <p:nvPr/>
        </p:nvSpPr>
        <p:spPr>
          <a:xfrm>
            <a:off x="5806440" y="412394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79" name="Text 76"/>
          <p:cNvSpPr/>
          <p:nvPr/>
        </p:nvSpPr>
        <p:spPr>
          <a:xfrm>
            <a:off x="6949440" y="412394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80" name="Text 77"/>
          <p:cNvSpPr/>
          <p:nvPr/>
        </p:nvSpPr>
        <p:spPr>
          <a:xfrm>
            <a:off x="8092440" y="412394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81" name="Text 78"/>
          <p:cNvSpPr/>
          <p:nvPr/>
        </p:nvSpPr>
        <p:spPr>
          <a:xfrm>
            <a:off x="9235440" y="412394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82" name="Text 79"/>
          <p:cNvSpPr/>
          <p:nvPr/>
        </p:nvSpPr>
        <p:spPr>
          <a:xfrm>
            <a:off x="10378440" y="412394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3" name="Shape 80"/>
          <p:cNvSpPr/>
          <p:nvPr/>
        </p:nvSpPr>
        <p:spPr>
          <a:xfrm>
            <a:off x="640080" y="4416552"/>
            <a:ext cx="10881360" cy="9144"/>
          </a:xfrm>
          <a:prstGeom prst="rect">
            <a:avLst/>
          </a:prstGeom>
          <a:solidFill>
            <a:srgbClr val="1A2D4F"/>
          </a:solidFill>
          <a:ln/>
        </p:spPr>
      </p:sp>
      <p:sp>
        <p:nvSpPr>
          <p:cNvPr id="84" name="Text 81"/>
          <p:cNvSpPr/>
          <p:nvPr/>
        </p:nvSpPr>
        <p:spPr>
          <a:xfrm>
            <a:off x="822960" y="4416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Auto-hosted / on-prem</a:t>
            </a:r>
            <a:endParaRPr lang="en-US" sz="1150" dirty="0"/>
          </a:p>
        </p:txBody>
      </p:sp>
      <p:sp>
        <p:nvSpPr>
          <p:cNvPr id="85" name="Text 82"/>
          <p:cNvSpPr/>
          <p:nvPr/>
        </p:nvSpPr>
        <p:spPr>
          <a:xfrm>
            <a:off x="4663440" y="441655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6" name="Text 83"/>
          <p:cNvSpPr/>
          <p:nvPr/>
        </p:nvSpPr>
        <p:spPr>
          <a:xfrm>
            <a:off x="5806440" y="441655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7" name="Text 84"/>
          <p:cNvSpPr/>
          <p:nvPr/>
        </p:nvSpPr>
        <p:spPr>
          <a:xfrm>
            <a:off x="6949440" y="441655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8" name="Text 85"/>
          <p:cNvSpPr/>
          <p:nvPr/>
        </p:nvSpPr>
        <p:spPr>
          <a:xfrm>
            <a:off x="8092440" y="441655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9" name="Text 86"/>
          <p:cNvSpPr/>
          <p:nvPr/>
        </p:nvSpPr>
        <p:spPr>
          <a:xfrm>
            <a:off x="9235440" y="441655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600" dirty="0"/>
          </a:p>
        </p:txBody>
      </p:sp>
      <p:sp>
        <p:nvSpPr>
          <p:cNvPr id="90" name="Text 87"/>
          <p:cNvSpPr/>
          <p:nvPr/>
        </p:nvSpPr>
        <p:spPr>
          <a:xfrm>
            <a:off x="10378440" y="441655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1" name="Shape 88"/>
          <p:cNvSpPr/>
          <p:nvPr/>
        </p:nvSpPr>
        <p:spPr>
          <a:xfrm>
            <a:off x="640080" y="4709160"/>
            <a:ext cx="10881360" cy="292608"/>
          </a:xfrm>
          <a:prstGeom prst="rect">
            <a:avLst/>
          </a:prstGeom>
          <a:solidFill>
            <a:srgbClr val="111B30">
              <a:alpha val="70000"/>
            </a:srgbClr>
          </a:solidFill>
          <a:ln/>
        </p:spPr>
      </p:sp>
      <p:sp>
        <p:nvSpPr>
          <p:cNvPr id="92" name="Shape 89"/>
          <p:cNvSpPr/>
          <p:nvPr/>
        </p:nvSpPr>
        <p:spPr>
          <a:xfrm>
            <a:off x="640080" y="4709160"/>
            <a:ext cx="10881360" cy="9144"/>
          </a:xfrm>
          <a:prstGeom prst="rect">
            <a:avLst/>
          </a:prstGeom>
          <a:solidFill>
            <a:srgbClr val="1A2D4F"/>
          </a:solidFill>
          <a:ln/>
        </p:spPr>
      </p:sp>
      <p:sp>
        <p:nvSpPr>
          <p:cNvPr id="93" name="Text 90"/>
          <p:cNvSpPr/>
          <p:nvPr/>
        </p:nvSpPr>
        <p:spPr>
          <a:xfrm>
            <a:off x="822960" y="47091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· free</a:t>
            </a:r>
            <a:endParaRPr lang="en-US" sz="1150" dirty="0"/>
          </a:p>
        </p:txBody>
      </p:sp>
      <p:sp>
        <p:nvSpPr>
          <p:cNvPr id="94" name="Text 91"/>
          <p:cNvSpPr/>
          <p:nvPr/>
        </p:nvSpPr>
        <p:spPr>
          <a:xfrm>
            <a:off x="4663440" y="470916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5" name="Text 92"/>
          <p:cNvSpPr/>
          <p:nvPr/>
        </p:nvSpPr>
        <p:spPr>
          <a:xfrm>
            <a:off x="5806440" y="470916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6" name="Text 93"/>
          <p:cNvSpPr/>
          <p:nvPr/>
        </p:nvSpPr>
        <p:spPr>
          <a:xfrm>
            <a:off x="6949440" y="470916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7" name="Text 94"/>
          <p:cNvSpPr/>
          <p:nvPr/>
        </p:nvSpPr>
        <p:spPr>
          <a:xfrm>
            <a:off x="8092440" y="470916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8" name="Text 95"/>
          <p:cNvSpPr/>
          <p:nvPr/>
        </p:nvSpPr>
        <p:spPr>
          <a:xfrm>
            <a:off x="9235440" y="470916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99" name="Text 96"/>
          <p:cNvSpPr/>
          <p:nvPr/>
        </p:nvSpPr>
        <p:spPr>
          <a:xfrm>
            <a:off x="10378440" y="470916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0" name="Shape 97"/>
          <p:cNvSpPr/>
          <p:nvPr/>
        </p:nvSpPr>
        <p:spPr>
          <a:xfrm>
            <a:off x="640080" y="5184648"/>
            <a:ext cx="2583180" cy="822960"/>
          </a:xfrm>
          <a:prstGeom prst="rect">
            <a:avLst/>
          </a:prstGeom>
          <a:solidFill>
            <a:srgbClr val="111B30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640080" y="5184648"/>
            <a:ext cx="54864" cy="8229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02" name="Text 99"/>
          <p:cNvSpPr/>
          <p:nvPr/>
        </p:nvSpPr>
        <p:spPr>
          <a:xfrm>
            <a:off x="822960" y="5276088"/>
            <a:ext cx="23088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 one binary</a:t>
            </a:r>
            <a:endParaRPr lang="en-US" sz="1150" dirty="0"/>
          </a:p>
        </p:txBody>
      </p:sp>
      <p:sp>
        <p:nvSpPr>
          <p:cNvPr id="103" name="Text 100"/>
          <p:cNvSpPr/>
          <p:nvPr/>
        </p:nvSpPr>
        <p:spPr>
          <a:xfrm>
            <a:off x="822960" y="5532120"/>
            <a:ext cx="23088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+ ML + forensics + UI in a single application. The others require integration with separate tools.</a:t>
            </a:r>
            <a:endParaRPr lang="en-US" sz="1000" dirty="0"/>
          </a:p>
        </p:txBody>
      </p:sp>
      <p:sp>
        <p:nvSpPr>
          <p:cNvPr id="104" name="Shape 101"/>
          <p:cNvSpPr/>
          <p:nvPr/>
        </p:nvSpPr>
        <p:spPr>
          <a:xfrm>
            <a:off x="3406140" y="5184648"/>
            <a:ext cx="2583180" cy="822960"/>
          </a:xfrm>
          <a:prstGeom prst="rect">
            <a:avLst/>
          </a:prstGeom>
          <a:solidFill>
            <a:srgbClr val="111B30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3406140" y="5184648"/>
            <a:ext cx="54864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6" name="Text 103"/>
          <p:cNvSpPr/>
          <p:nvPr/>
        </p:nvSpPr>
        <p:spPr>
          <a:xfrm>
            <a:off x="3589020" y="5276088"/>
            <a:ext cx="23088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Forensics out of the box</a:t>
            </a:r>
            <a:endParaRPr lang="en-US" sz="1150" dirty="0"/>
          </a:p>
        </p:txBody>
      </p:sp>
      <p:sp>
        <p:nvSpPr>
          <p:cNvPr id="107" name="Text 104"/>
          <p:cNvSpPr/>
          <p:nvPr/>
        </p:nvSpPr>
        <p:spPr>
          <a:xfrm>
            <a:off x="3589020" y="5532120"/>
            <a:ext cx="23088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one in the list that automatically saves the packets around every alert.</a:t>
            </a:r>
            <a:endParaRPr lang="en-US" sz="1000" dirty="0"/>
          </a:p>
        </p:txBody>
      </p:sp>
      <p:sp>
        <p:nvSpPr>
          <p:cNvPr id="108" name="Shape 105"/>
          <p:cNvSpPr/>
          <p:nvPr/>
        </p:nvSpPr>
        <p:spPr>
          <a:xfrm>
            <a:off x="6172200" y="5184648"/>
            <a:ext cx="2583180" cy="822960"/>
          </a:xfrm>
          <a:prstGeom prst="rect">
            <a:avLst/>
          </a:prstGeom>
          <a:solidFill>
            <a:srgbClr val="111B30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6172200" y="5184648"/>
            <a:ext cx="54864" cy="822960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110" name="Text 107"/>
          <p:cNvSpPr/>
          <p:nvPr/>
        </p:nvSpPr>
        <p:spPr>
          <a:xfrm>
            <a:off x="6355080" y="5276088"/>
            <a:ext cx="23088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4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hybrid</a:t>
            </a:r>
            <a:endParaRPr lang="en-US" sz="1150" dirty="0"/>
          </a:p>
        </p:txBody>
      </p:sp>
      <p:sp>
        <p:nvSpPr>
          <p:cNvPr id="111" name="Text 108"/>
          <p:cNvSpPr/>
          <p:nvPr/>
        </p:nvSpPr>
        <p:spPr>
          <a:xfrm>
            <a:off x="6355080" y="5532120"/>
            <a:ext cx="23088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hybrid category when both engines agree — does not exist in Snort / Suricata / Zeek.</a:t>
            </a:r>
            <a:endParaRPr lang="en-US" sz="1000" dirty="0"/>
          </a:p>
        </p:txBody>
      </p:sp>
      <p:sp>
        <p:nvSpPr>
          <p:cNvPr id="112" name="Shape 109"/>
          <p:cNvSpPr/>
          <p:nvPr/>
        </p:nvSpPr>
        <p:spPr>
          <a:xfrm>
            <a:off x="8938260" y="5184648"/>
            <a:ext cx="2583180" cy="822960"/>
          </a:xfrm>
          <a:prstGeom prst="rect">
            <a:avLst/>
          </a:prstGeom>
          <a:solidFill>
            <a:srgbClr val="111B30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8938260" y="5184648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4" name="Text 111"/>
          <p:cNvSpPr/>
          <p:nvPr/>
        </p:nvSpPr>
        <p:spPr>
          <a:xfrm>
            <a:off x="9121140" y="5276088"/>
            <a:ext cx="23088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Five-minute demo</a:t>
            </a:r>
            <a:endParaRPr lang="en-US" sz="1150" dirty="0"/>
          </a:p>
        </p:txBody>
      </p:sp>
      <p:sp>
        <p:nvSpPr>
          <p:cNvPr id="115" name="Text 112"/>
          <p:cNvSpPr/>
          <p:nvPr/>
        </p:nvSpPr>
        <p:spPr>
          <a:xfrm>
            <a:off x="9121140" y="5532120"/>
            <a:ext cx="23088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launcher, no external tooling, ideal for academic evaluation or showcase.</a:t>
            </a:r>
            <a:endParaRPr lang="en-US" sz="1000" dirty="0"/>
          </a:p>
        </p:txBody>
      </p:sp>
      <p:sp>
        <p:nvSpPr>
          <p:cNvPr id="116" name="Text 113"/>
          <p:cNvSpPr/>
          <p:nvPr/>
        </p:nvSpPr>
        <p:spPr>
          <a:xfrm>
            <a:off x="6400800" y="653796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   ·   ~ partial   ·   – n/a   ·   ✗ none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CONCLUSIONS</a:t>
            </a:r>
            <a:endParaRPr lang="en-US" sz="1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2296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758952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achieved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Ovidius NIDS · Bora Cristian-Vasile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44240" cy="2148840"/>
          </a:xfrm>
          <a:prstGeom prst="rect">
            <a:avLst/>
          </a:prstGeom>
          <a:solidFill>
            <a:srgbClr val="111B30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783080"/>
            <a:ext cx="54864" cy="214884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5740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205740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functional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914400" y="2743200"/>
            <a:ext cx="298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Capture, hybrid detection, forensics, authentication, live dashboard — all operational.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358640" y="1783080"/>
            <a:ext cx="3444240" cy="2148840"/>
          </a:xfrm>
          <a:prstGeom prst="rect">
            <a:avLst/>
          </a:prstGeom>
          <a:solidFill>
            <a:srgbClr val="111B30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358640" y="1783080"/>
            <a:ext cx="54864" cy="2148840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960" y="205740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73040" y="205740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low latency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632960" y="2743200"/>
            <a:ext cx="298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ms per packet at the signature engine, &lt; 250 ms total latency from packet to UI.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077200" y="1783080"/>
            <a:ext cx="3444240" cy="2148840"/>
          </a:xfrm>
          <a:prstGeom prst="rect">
            <a:avLst/>
          </a:prstGeom>
          <a:solidFill>
            <a:srgbClr val="111B30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077200" y="1783080"/>
            <a:ext cx="54864" cy="2148840"/>
          </a:xfrm>
          <a:prstGeom prst="rect">
            <a:avLst/>
          </a:prstGeom>
          <a:solidFill>
            <a:srgbClr val="D946E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1520" y="205740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991600" y="205740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trainable from UI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8351520" y="2743200"/>
            <a:ext cx="298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and Isolation Forest, with metrics and feature importance visualisation.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40080" y="4206240"/>
            <a:ext cx="3444240" cy="2148840"/>
          </a:xfrm>
          <a:prstGeom prst="rect">
            <a:avLst/>
          </a:prstGeom>
          <a:solidFill>
            <a:srgbClr val="111B30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40080" y="4206240"/>
            <a:ext cx="54864" cy="21488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480560"/>
            <a:ext cx="502920" cy="5029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554480" y="448056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Forensics on disk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914400" y="5166360"/>
            <a:ext cx="298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alert: a JSONL of the last 50 packets, authenticated download from the UI.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4358640" y="4206240"/>
            <a:ext cx="3444240" cy="2148840"/>
          </a:xfrm>
          <a:prstGeom prst="rect">
            <a:avLst/>
          </a:prstGeom>
          <a:solidFill>
            <a:srgbClr val="111B30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4358640" y="4206240"/>
            <a:ext cx="54864" cy="2148840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2960" y="4480560"/>
            <a:ext cx="502920" cy="50292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273040" y="448056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deployment</a:t>
            </a:r>
            <a:endParaRPr lang="en-US" sz="1600" dirty="0"/>
          </a:p>
        </p:txBody>
      </p:sp>
      <p:sp>
        <p:nvSpPr>
          <p:cNvPr id="30" name="Text 22"/>
          <p:cNvSpPr/>
          <p:nvPr/>
        </p:nvSpPr>
        <p:spPr>
          <a:xfrm>
            <a:off x="4632960" y="5166360"/>
            <a:ext cx="298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run.bat / run.sh / run.py — automatic install and start (Win/Mac/Linux).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8077200" y="4206240"/>
            <a:ext cx="3444240" cy="2148840"/>
          </a:xfrm>
          <a:prstGeom prst="rect">
            <a:avLst/>
          </a:prstGeom>
          <a:solidFill>
            <a:srgbClr val="111B30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8077200" y="4206240"/>
            <a:ext cx="54864" cy="2148840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1520" y="4480560"/>
            <a:ext cx="502920" cy="50292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991600" y="448056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 code</a:t>
            </a:r>
            <a:endParaRPr lang="en-US" sz="1600" dirty="0"/>
          </a:p>
        </p:txBody>
      </p:sp>
      <p:sp>
        <p:nvSpPr>
          <p:cNvPr id="35" name="Text 26"/>
          <p:cNvSpPr/>
          <p:nvPr/>
        </p:nvSpPr>
        <p:spPr>
          <a:xfrm>
            <a:off x="8351520" y="5166360"/>
            <a:ext cx="298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editable from the UI without restart. Decoupled modules. Auto-generated OpenAPI.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FUTURE WORK</a:t>
            </a:r>
            <a:endParaRPr lang="en-US" sz="1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2296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758952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left until the defense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Ovidius NIDS · Bora Cristian-Vasile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03520" cy="1417320"/>
          </a:xfrm>
          <a:prstGeom prst="rect">
            <a:avLst/>
          </a:prstGeom>
          <a:solidFill>
            <a:srgbClr val="111B30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783080"/>
            <a:ext cx="54864" cy="1417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5"/>
          <p:cNvSpPr/>
          <p:nvPr/>
        </p:nvSpPr>
        <p:spPr>
          <a:xfrm>
            <a:off x="914400" y="1965960"/>
            <a:ext cx="1097280" cy="256032"/>
          </a:xfrm>
          <a:prstGeom prst="rect">
            <a:avLst/>
          </a:prstGeom>
          <a:solidFill>
            <a:srgbClr val="F59E0B">
              <a:alpha val="25000"/>
            </a:srgbClr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19659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103120" y="19476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Per-flow features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" y="23317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from per-packet features to per-flow 5-tuple (duration, packet count, total bytes). Improves precision on multi-packet attacks.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17920" y="1783080"/>
            <a:ext cx="5303520" cy="1417320"/>
          </a:xfrm>
          <a:prstGeom prst="rect">
            <a:avLst/>
          </a:prstGeom>
          <a:solidFill>
            <a:srgbClr val="111B30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17920" y="1783080"/>
            <a:ext cx="54864" cy="1417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Shape 11"/>
          <p:cNvSpPr/>
          <p:nvPr/>
        </p:nvSpPr>
        <p:spPr>
          <a:xfrm>
            <a:off x="6492240" y="1965960"/>
            <a:ext cx="1097280" cy="256032"/>
          </a:xfrm>
          <a:prstGeom prst="rect">
            <a:avLst/>
          </a:prstGeom>
          <a:solidFill>
            <a:srgbClr val="F59E0B">
              <a:alpha val="25000"/>
            </a:srgbClr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92240" y="19659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680960" y="19476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on CICIDS2017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92240" y="23317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the training and testing pipeline on CICIDS2017 + NSL-KDD for comparability with the literature.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40080" y="3364992"/>
            <a:ext cx="5303520" cy="1417320"/>
          </a:xfrm>
          <a:prstGeom prst="rect">
            <a:avLst/>
          </a:prstGeom>
          <a:solidFill>
            <a:srgbClr val="111B30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0080" y="3364992"/>
            <a:ext cx="54864" cy="1417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Shape 17"/>
          <p:cNvSpPr/>
          <p:nvPr/>
        </p:nvSpPr>
        <p:spPr>
          <a:xfrm>
            <a:off x="914400" y="3547872"/>
            <a:ext cx="1097280" cy="256032"/>
          </a:xfrm>
          <a:prstGeom prst="rect">
            <a:avLst/>
          </a:prstGeom>
          <a:solidFill>
            <a:srgbClr val="F59E0B">
              <a:alpha val="25000"/>
            </a:srgbClr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14400" y="35478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103120" y="352958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Alembic migrations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14400" y="3913632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create_all() with a versioned migration system for schema evolution without data loss.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217920" y="3364992"/>
            <a:ext cx="5303520" cy="1417320"/>
          </a:xfrm>
          <a:prstGeom prst="rect">
            <a:avLst/>
          </a:prstGeom>
          <a:solidFill>
            <a:srgbClr val="111B30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217920" y="3364992"/>
            <a:ext cx="54864" cy="14173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6" name="Shape 23"/>
          <p:cNvSpPr/>
          <p:nvPr/>
        </p:nvSpPr>
        <p:spPr>
          <a:xfrm>
            <a:off x="6492240" y="3547872"/>
            <a:ext cx="1097280" cy="256032"/>
          </a:xfrm>
          <a:prstGeom prst="rect">
            <a:avLst/>
          </a:prstGeom>
          <a:solidFill>
            <a:srgbClr val="22D3EE">
              <a:alpha val="25000"/>
            </a:srgbClr>
          </a:solidFill>
          <a:ln w="7620">
            <a:solidFill>
              <a:srgbClr val="22D3E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92240" y="35478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680960" y="352958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correlation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492240" y="3913632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consecutive alerts from the same source into a single "incident".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40080" y="4946904"/>
            <a:ext cx="5303520" cy="1417320"/>
          </a:xfrm>
          <a:prstGeom prst="rect">
            <a:avLst/>
          </a:prstGeom>
          <a:solidFill>
            <a:srgbClr val="111B30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40080" y="4946904"/>
            <a:ext cx="54864" cy="14173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2" name="Shape 29"/>
          <p:cNvSpPr/>
          <p:nvPr/>
        </p:nvSpPr>
        <p:spPr>
          <a:xfrm>
            <a:off x="914400" y="5129784"/>
            <a:ext cx="1097280" cy="256032"/>
          </a:xfrm>
          <a:prstGeom prst="rect">
            <a:avLst/>
          </a:prstGeom>
          <a:solidFill>
            <a:srgbClr val="22D3EE">
              <a:alpha val="25000"/>
            </a:srgbClr>
          </a:solidFill>
          <a:ln w="7620">
            <a:solidFill>
              <a:srgbClr val="22D3E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14400" y="512978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2103120" y="51114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Snort rule import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914400" y="5495544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a subset of the Snort ecosystem into the internal JSON specification.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217920" y="4946904"/>
            <a:ext cx="5303520" cy="1417320"/>
          </a:xfrm>
          <a:prstGeom prst="rect">
            <a:avLst/>
          </a:prstGeom>
          <a:solidFill>
            <a:srgbClr val="111B30"/>
          </a:solidFill>
          <a:ln w="9525">
            <a:solidFill>
              <a:srgbClr val="1A2D4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217920" y="4946904"/>
            <a:ext cx="54864" cy="1417320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38" name="Shape 35"/>
          <p:cNvSpPr/>
          <p:nvPr/>
        </p:nvSpPr>
        <p:spPr>
          <a:xfrm>
            <a:off x="6492240" y="5129784"/>
            <a:ext cx="1097280" cy="256032"/>
          </a:xfrm>
          <a:prstGeom prst="rect">
            <a:avLst/>
          </a:prstGeom>
          <a:solidFill>
            <a:srgbClr val="D946EF">
              <a:alpha val="25000"/>
            </a:srgbClr>
          </a:solidFill>
          <a:ln w="7620">
            <a:solidFill>
              <a:srgbClr val="D946E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92240" y="512978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D94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7680960" y="51114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LLM-assisted triage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6492240" y="5495544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panel on Alert Detail that summarises captured packets in natural language.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737360"/>
            <a:ext cx="1554480" cy="1554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0" y="3520440"/>
            <a:ext cx="3931920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37490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attention!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60350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Bora Cristian-Vasile  ·  Ovidius University of Constanța  ·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Universitatea Ovidius din Constanța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Ovidius NIDS — Lucrare de licență</dc:title>
  <dc:subject>Bachelor's thesis defense presentation</dc:subject>
  <dc:creator>Bora Cristian-Vasile</dc:creator>
  <cp:lastModifiedBy>Bora Cristian-Vasile</cp:lastModifiedBy>
  <cp:revision>1</cp:revision>
  <dcterms:created xsi:type="dcterms:W3CDTF">2026-07-01T13:28:54Z</dcterms:created>
  <dcterms:modified xsi:type="dcterms:W3CDTF">2026-07-01T13:28:54Z</dcterms:modified>
</cp:coreProperties>
</file>